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Anvil is a governance engine for AI-assisted codebases. It enforces policy at the moment code is generated -- at file save -- not after commit. Think of it as the constitutional layer for your repository. We will show you why this matters now, how it works, and why no other tool does what Anvil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coding tools are mainstream -- 84% of developers use them, 90% of the Fortune 100 have adopted Copilot. But the data is clear: AI-generated code is measurably lower quality. CodeRabbit analysed thousands of pull requests and found 1.7 times more issues in AI-generated PRs. GitClear found code duplication has quadrupled. The productivity gains are real, but so is the quality crisis. And here is the structural problem: every governance tool in the market scans after commit. By then, the ungoverned code is already in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forces are converging. First, regulatory deadlines -- the EU AI Act high-risk requirements become enforceable in August 2026. That is five months from now. Non-compliance penalties reach 7% of global turnover. Second, market reality -- Gartner predicts 40% of AI coding projects will be cancelled by 2027 due to escalating costs and weak governance. Third, budget creation -- Gartner forecasts AI governance platform spend at nearly half a billion dollars this year, growing past a billion by 2030. The market is moving from 'should we govern AI code?' to 'how do we govern AI code?' We have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Anvil enforces governance at file save -- the moment code is generated. This is architecturally different from every other tool in the market. Static analysers scan after commit. AI review tools evaluate at PR time. Anvil operates at generation time. And critically, Anvil is deterministic. It uses policy-as-code -- OPA and Rego -- not another AI model. The same input always produces the same output. No probabilistic uncertainty. No AI reviewing AI. Every line of code is classified: human, AI, mixed, or unknown. And the architecture of the codebase is tracked incrementally, so drift is detected as a trajectory, not just a violation.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flow. When a developer saves a file, Anvil parses it incrementally using tree-sitter in Rust -- fast enough to be synchronous. Each line is attributed: was this written by a human, an AI assistant, or some combination? Then the policy engine evaluates the change against your team's rules -- these are standard OPA/Rego policies, not proprietary. The architecture graph updates: has this change introduced a new dependency? Crossed a boundary? Expanded the trust surface? Finally, Anvil emits a governance event -- pass, warn, or block. The entire loop runs in milliseconds. No workflow disruption.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Anvil running in the terminal. The left pane shows the active policy -- the rules your team has defined. The right pane is the real-time signal interceptor -- it shows governance events as they happen. File saved, policy evaluated, architecture checked. The footer shows system logs. The product is built in Rust for performance and ships as a single binary. No runtime dependencies, no Docker containers, no cloud accounts required. It runs where your code runs. Every check is deterministic -- programmatic, mechanical, repeatable. No AI reviewing AI. The same input always produces the same output. This product plays in the exact space AI struggles with: precision. And it runs in under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sits at the intersection of three segments: AI code tools at 7.4 billion, application security testing at 13.6 billion, and AI governance platforms at 492 million and growing rapidly. The critical insight is that AI governance spend is not discretionary -- it is driven by regulatory deadlines and enterprise compliance requirements. Gartner's survey of 360 organisations found that those with governance platforms are 3.4 times more effective. This is not a nice-to-have; it is becoming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shows the landscape on two axes: when governance happens -- pre-commit or post-commit -- and how it works -- deterministic policy or probabilistic AI. Static analysis tools like SonarQube and Semgrep are deterministic but post-commit. AI code review tools are probabilistic and post-commit. The top-left quadrant -- deterministic and pre-commit -- is empty. That is where Anvil sits. This is not a marginal improvement on an existing category. It is a structurally different approach. And moving into this quadrant requires fundamental re-architecture, not a feature addition.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go-to-market follows the developer tools playbook. A developer installs Anvil via CLI, configures a few policies, and sees immediate value -- governance events on every save. That is the land. The expand happens when compliance requirements arrive: the EU AI Act deadline, a SOC 2 audit, an enterprise customer asking about AI code governance. Policy packs -- pre-built rule sets for specific compliance frameworks -- become the expansion revenue. Enterprise features like centralised policy management and audit dashboards create the upsell.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other companies in the AI governance space are raising record rounds on pitch decks and prototypes, Anvil is a production-grade system. The Rust kernel, the policy engine, the semantic graph, the authorship attribution -- all built. Precision-engineered in a domain where AI struggles: deterministic analysis, sub-50-millisecond checks, repeatable results. We have 5 pilot teams today and developer influencers lined up to demo ahead of launch. We're targeting 5,000 on the waitlist and 10 to 15 pilot teams by the time we close this round. The product plays in the exact space AI fails at -- precision -- and that's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I've spent 25 years in enterprise software -- the last five as CEO of Arkahna, a platform engineering company that works with over 100 SaaS companies. I was the Azure lead in Australia for Microsoft. I know how enterprises buy developer tools, because I've been on both sides of that transaction. Anvil exists because I've watched AI coding tools arrive in my clients' organisations with zero governance. The advisory bench includes senior operators from enterprise, startups, and large SaaS. The team scales with this raise -- first hires are engineers and a CRO. Built to make you trust your AI more -- not by asking you to trust ours.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raising £3–5M to own this category before the compliance window closes. 40% goes to engineering -- scaling the Rust kernel, building the platform layer, and ecosystem integrations. 30% to go-to-market -- an enterprise CRO and developer advocacy to drive bottom-up adoption. 20% to strategic acquisition of platform engineering IP -- proven infrastructure we can absorb rather than rebuild, accelerating our maturity by months. This round gets us to profitability on code governance. That's phase 1. Phase 2 is the bigger thesis: AI governance for all knowledge work -- legal, finance, operations -- starting from the beachhead where the pain is sharpest and the tooling is most mature. We reach phase 2 self-funded. No further dilution required.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are here for Q&amp;A and follow-up. Each one provides the detailed evidence behind a claim in the main deck. The technical architecture slide shows how the Rust kernel, semantic graph, and OPA engine work together. The competitive comparison goes feature-by-feature. The regulatory timeline shows every deadline through 2030. Use these to answer deep questions with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4114800" y="914400"/>
            <a:ext cx="3931920" cy="2560320"/>
          </a:xfrm>
          <a:prstGeom prst="rect">
            <a:avLst/>
          </a:prstGeom>
          <a:noFill/>
        </p:spPr>
        <p:txBody>
          <a:bodyPr wrap="square"/>
          <a:lstStyle/>
          <a:p>
            <a:pPr algn="ctr">
              <a:spcBef>
                <a:spcPts val="0"/>
              </a:spcBef>
              <a:spcAft>
                <a:spcPts val="0"/>
              </a:spcAft>
            </a:pPr>
            <a:r>
              <a:rPr sz="2000" b="0">
                <a:solidFill>
                  <a:srgbClr val="CC5500"/>
                </a:solidFill>
                <a:latin typeface="JetBrains Mono"/>
              </a:rPr>
              <a:t>████     ████
██         ██
██  █████  ██
██         ██
██  █████  ██
██         ██
████     ████</a:t>
            </a:r>
          </a:p>
        </p:txBody>
      </p:sp>
      <p:sp>
        <p:nvSpPr>
          <p:cNvPr id="3" name="TextBox 2"/>
          <p:cNvSpPr txBox="1"/>
          <p:nvPr/>
        </p:nvSpPr>
        <p:spPr>
          <a:xfrm>
            <a:off x="7772400" y="2011680"/>
            <a:ext cx="2743200" cy="457200"/>
          </a:xfrm>
          <a:prstGeom prst="rect">
            <a:avLst/>
          </a:prstGeom>
          <a:noFill/>
        </p:spPr>
        <p:txBody>
          <a:bodyPr wrap="square"/>
          <a:lstStyle/>
          <a:p>
            <a:pPr algn="l">
              <a:spcBef>
                <a:spcPts val="0"/>
              </a:spcBef>
              <a:spcAft>
                <a:spcPts val="0"/>
              </a:spcAft>
            </a:pPr>
            <a:r>
              <a:rPr sz="2400" b="0">
                <a:solidFill>
                  <a:srgbClr val="EBEBEB"/>
                </a:solidFill>
                <a:latin typeface="JetBrains Mono"/>
              </a:rPr>
              <a:t>a n v i l</a:t>
            </a:r>
          </a:p>
        </p:txBody>
      </p:sp>
      <p:sp>
        <p:nvSpPr>
          <p:cNvPr id="4" name="TextBox 3"/>
          <p:cNvSpPr txBox="1"/>
          <p:nvPr/>
        </p:nvSpPr>
        <p:spPr>
          <a:xfrm>
            <a:off x="685800" y="3840480"/>
            <a:ext cx="10820095" cy="731520"/>
          </a:xfrm>
          <a:prstGeom prst="rect">
            <a:avLst/>
          </a:prstGeom>
          <a:noFill/>
        </p:spPr>
        <p:txBody>
          <a:bodyPr wrap="square"/>
          <a:lstStyle/>
          <a:p>
            <a:pPr algn="ctr">
              <a:spcBef>
                <a:spcPts val="0"/>
              </a:spcBef>
              <a:spcAft>
                <a:spcPts val="0"/>
              </a:spcAft>
            </a:pPr>
            <a:r>
              <a:rPr sz="4400" b="0">
                <a:solidFill>
                  <a:srgbClr val="EBEBEB"/>
                </a:solidFill>
                <a:latin typeface="JetBrains Mono"/>
              </a:rPr>
              <a:t>AI governance for developers</a:t>
            </a:r>
          </a:p>
        </p:txBody>
      </p:sp>
      <p:sp>
        <p:nvSpPr>
          <p:cNvPr id="5" name="TextBox 4"/>
          <p:cNvSpPr txBox="1"/>
          <p:nvPr/>
        </p:nvSpPr>
        <p:spPr>
          <a:xfrm>
            <a:off x="685800" y="4572000"/>
            <a:ext cx="10820095" cy="548640"/>
          </a:xfrm>
          <a:prstGeom prst="rect">
            <a:avLst/>
          </a:prstGeom>
          <a:noFill/>
        </p:spPr>
        <p:txBody>
          <a:bodyPr wrap="square"/>
          <a:lstStyle/>
          <a:p>
            <a:pPr algn="ctr">
              <a:spcBef>
                <a:spcPts val="0"/>
              </a:spcBef>
              <a:spcAft>
                <a:spcPts val="0"/>
              </a:spcAft>
            </a:pPr>
            <a:r>
              <a:rPr sz="2400" b="0">
                <a:solidFill>
                  <a:srgbClr val="85858A"/>
                </a:solidFill>
                <a:latin typeface="Inter"/>
              </a:rPr>
              <a:t>Anvil by EddaCraft</a:t>
            </a:r>
          </a:p>
        </p:txBody>
      </p:sp>
      <p:sp>
        <p:nvSpPr>
          <p:cNvPr id="6" name="TextBox 5"/>
          <p:cNvSpPr txBox="1"/>
          <p:nvPr/>
        </p:nvSpPr>
        <p:spPr>
          <a:xfrm>
            <a:off x="3200400" y="5212080"/>
            <a:ext cx="5760720" cy="1188720"/>
          </a:xfrm>
          <a:prstGeom prst="rect">
            <a:avLst/>
          </a:prstGeom>
          <a:noFill/>
        </p:spPr>
        <p:txBody>
          <a:bodyPr wrap="square"/>
          <a:lstStyle/>
          <a:p>
            <a:pPr algn="ctr">
              <a:spcBef>
                <a:spcPts val="400"/>
              </a:spcBef>
              <a:spcAft>
                <a:spcPts val="400"/>
              </a:spcAft>
            </a:pPr>
            <a:r>
              <a:rPr sz="1400" b="0">
                <a:solidFill>
                  <a:srgbClr val="85858A"/>
                </a:solidFill>
                <a:latin typeface="Inter"/>
              </a:rPr>
              <a:t>Deterministic policy enforcement at file save</a:t>
            </a:r>
          </a:p>
          <a:p>
            <a:pPr algn="ctr">
              <a:spcBef>
                <a:spcPts val="400"/>
              </a:spcBef>
              <a:spcAft>
                <a:spcPts val="400"/>
              </a:spcAft>
            </a:pPr>
            <a:r>
              <a:rPr sz="1400" b="0">
                <a:solidFill>
                  <a:srgbClr val="85858A"/>
                </a:solidFill>
                <a:latin typeface="Inter"/>
              </a:rPr>
              <a:t>Line-level authorship attribution</a:t>
            </a:r>
          </a:p>
          <a:p>
            <a:pPr algn="ctr">
              <a:spcBef>
                <a:spcPts val="400"/>
              </a:spcBef>
              <a:spcAft>
                <a:spcPts val="400"/>
              </a:spcAft>
            </a:pPr>
            <a:r>
              <a:rPr sz="1400" b="0">
                <a:solidFill>
                  <a:srgbClr val="85858A"/>
                </a:solidFill>
                <a:latin typeface="Inter"/>
              </a:rPr>
              <a:t>Architecture drift detection</a:t>
            </a:r>
          </a:p>
          <a:p>
            <a:pPr algn="ctr">
              <a:spcBef>
                <a:spcPts val="400"/>
              </a:spcBef>
              <a:spcAft>
                <a:spcPts val="400"/>
              </a:spcAft>
            </a:pPr>
            <a:r>
              <a:rPr sz="1400" b="0">
                <a:solidFill>
                  <a:srgbClr val="85858A"/>
                </a:solidFill>
                <a:latin typeface="Inter"/>
              </a:rPr>
              <a:t>Policy-as-code via OPA/Rego</a:t>
            </a:r>
          </a:p>
        </p:txBody>
      </p:sp>
      <p:sp>
        <p:nvSpPr>
          <p:cNvPr id="7" name="TextBox 6"/>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548640"/>
            <a:ext cx="4389120" cy="731520"/>
          </a:xfrm>
          <a:prstGeom prst="rect">
            <a:avLst/>
          </a:prstGeom>
          <a:noFill/>
        </p:spPr>
        <p:txBody>
          <a:bodyPr wrap="square"/>
          <a:lstStyle/>
          <a:p>
            <a:pPr algn="l">
              <a:spcBef>
                <a:spcPts val="0"/>
              </a:spcBef>
              <a:spcAft>
                <a:spcPts val="0"/>
              </a:spcAft>
            </a:pPr>
            <a:r>
              <a:rPr sz="3600" b="1">
                <a:solidFill>
                  <a:srgbClr val="EBEBEB"/>
                </a:solidFill>
                <a:latin typeface="JetBrains Mono"/>
              </a:rPr>
              <a:t>AI writes half the code.
Nobody governs it.</a:t>
            </a:r>
          </a:p>
        </p:txBody>
      </p:sp>
      <p:sp>
        <p:nvSpPr>
          <p:cNvPr id="3" name="TextBox 2"/>
          <p:cNvSpPr txBox="1"/>
          <p:nvPr/>
        </p:nvSpPr>
        <p:spPr>
          <a:xfrm>
            <a:off x="685800" y="1828800"/>
            <a:ext cx="4114800" cy="2286000"/>
          </a:xfrm>
          <a:prstGeom prst="rect">
            <a:avLst/>
          </a:prstGeom>
          <a:noFill/>
        </p:spPr>
        <p:txBody>
          <a:bodyPr wrap="square"/>
          <a:lstStyle/>
          <a:p>
            <a:pPr algn="l">
              <a:spcBef>
                <a:spcPts val="400"/>
              </a:spcBef>
              <a:spcAft>
                <a:spcPts val="400"/>
              </a:spcAft>
            </a:pPr>
            <a:r>
              <a:rPr sz="1500" b="0">
                <a:solidFill>
                  <a:srgbClr val="85858A"/>
                </a:solidFill>
                <a:latin typeface="Inter"/>
              </a:rPr>
              <a:t>46% of production code is now AI-generated</a:t>
            </a:r>
          </a:p>
          <a:p>
            <a:pPr algn="l">
              <a:spcBef>
                <a:spcPts val="400"/>
              </a:spcBef>
              <a:spcAft>
                <a:spcPts val="400"/>
              </a:spcAft>
            </a:pPr>
            <a:r>
              <a:rPr sz="1500" b="0">
                <a:solidFill>
                  <a:srgbClr val="85858A"/>
                </a:solidFill>
                <a:latin typeface="Inter"/>
              </a:rPr>
              <a:t>Fewer than half of developers review AI output</a:t>
            </a:r>
          </a:p>
          <a:p>
            <a:pPr algn="l">
              <a:spcBef>
                <a:spcPts val="400"/>
              </a:spcBef>
              <a:spcAft>
                <a:spcPts val="400"/>
              </a:spcAft>
            </a:pPr>
            <a:r>
              <a:rPr sz="1500" b="0">
                <a:solidFill>
                  <a:srgbClr val="85858A"/>
                </a:solidFill>
                <a:latin typeface="Inter"/>
              </a:rPr>
              <a:t>45% of AI-generated code fails security tests</a:t>
            </a:r>
          </a:p>
          <a:p>
            <a:pPr algn="l">
              <a:spcBef>
                <a:spcPts val="400"/>
              </a:spcBef>
              <a:spcAft>
                <a:spcPts val="400"/>
              </a:spcAft>
            </a:pPr>
            <a:r>
              <a:rPr sz="1500" b="0">
                <a:solidFill>
                  <a:srgbClr val="85858A"/>
                </a:solidFill>
                <a:latin typeface="Inter"/>
              </a:rPr>
              <a:t>Code duplication increased 4x since AI adoption</a:t>
            </a:r>
          </a:p>
        </p:txBody>
      </p:sp>
      <p:sp>
        <p:nvSpPr>
          <p:cNvPr id="4" name="TextBox 3"/>
          <p:cNvSpPr txBox="1"/>
          <p:nvPr/>
        </p:nvSpPr>
        <p:spPr>
          <a:xfrm>
            <a:off x="685800" y="4389120"/>
            <a:ext cx="4114800" cy="914400"/>
          </a:xfrm>
          <a:prstGeom prst="rect">
            <a:avLst/>
          </a:prstGeom>
          <a:noFill/>
        </p:spPr>
        <p:txBody>
          <a:bodyPr wrap="square"/>
          <a:lstStyle/>
          <a:p>
            <a:pPr algn="l">
              <a:spcBef>
                <a:spcPts val="0"/>
              </a:spcBef>
              <a:spcAft>
                <a:spcPts val="0"/>
              </a:spcAft>
            </a:pPr>
            <a:r>
              <a:rPr sz="7200" b="1">
                <a:solidFill>
                  <a:srgbClr val="CC5500"/>
                </a:solidFill>
                <a:latin typeface="JetBrains Mono"/>
              </a:rPr>
              <a:t>1.7x</a:t>
            </a:r>
          </a:p>
        </p:txBody>
      </p:sp>
      <p:sp>
        <p:nvSpPr>
          <p:cNvPr id="5" name="TextBox 4"/>
          <p:cNvSpPr txBox="1"/>
          <p:nvPr/>
        </p:nvSpPr>
        <p:spPr>
          <a:xfrm>
            <a:off x="685800" y="5303520"/>
            <a:ext cx="4114800" cy="365760"/>
          </a:xfrm>
          <a:prstGeom prst="rect">
            <a:avLst/>
          </a:prstGeom>
          <a:noFill/>
        </p:spPr>
        <p:txBody>
          <a:bodyPr wrap="square"/>
          <a:lstStyle/>
          <a:p>
            <a:pPr algn="l">
              <a:spcBef>
                <a:spcPts val="0"/>
              </a:spcBef>
              <a:spcAft>
                <a:spcPts val="0"/>
              </a:spcAft>
            </a:pPr>
            <a:r>
              <a:rPr sz="1400" b="0">
                <a:solidFill>
                  <a:srgbClr val="85858A"/>
                </a:solidFill>
                <a:latin typeface="Inter"/>
              </a:rPr>
              <a:t>defect multiplier for AI-generated code</a:t>
            </a:r>
          </a:p>
        </p:txBody>
      </p:sp>
      <p:sp>
        <p:nvSpPr>
          <p:cNvPr id="6" name="Rectangle 5"/>
          <p:cNvSpPr/>
          <p:nvPr/>
        </p:nvSpPr>
        <p:spPr>
          <a:xfrm>
            <a:off x="5212080" y="640080"/>
            <a:ext cx="6400800" cy="512064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960120"/>
            <a:ext cx="1645920" cy="274320"/>
          </a:xfrm>
          <a:prstGeom prst="rect">
            <a:avLst/>
          </a:prstGeom>
          <a:noFill/>
        </p:spPr>
        <p:txBody>
          <a:bodyPr wrap="square"/>
          <a:lstStyle/>
          <a:p>
            <a:pPr algn="l">
              <a:spcBef>
                <a:spcPts val="0"/>
              </a:spcBef>
              <a:spcAft>
                <a:spcPts val="0"/>
              </a:spcAft>
            </a:pPr>
            <a:r>
              <a:rPr sz="1200" b="0">
                <a:solidFill>
                  <a:srgbClr val="85858A"/>
                </a:solidFill>
                <a:latin typeface="JetBrains Mono"/>
              </a:rPr>
              <a:t>Issues / PR</a:t>
            </a:r>
          </a:p>
        </p:txBody>
      </p:sp>
      <p:sp>
        <p:nvSpPr>
          <p:cNvPr id="8" name="Rectangle 7"/>
          <p:cNvSpPr/>
          <p:nvPr/>
        </p:nvSpPr>
        <p:spPr>
          <a:xfrm>
            <a:off x="7040880" y="1234440"/>
            <a:ext cx="2614018" cy="32004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00618" y="1188720"/>
            <a:ext cx="731520" cy="320040"/>
          </a:xfrm>
          <a:prstGeom prst="rect">
            <a:avLst/>
          </a:prstGeom>
          <a:noFill/>
        </p:spPr>
        <p:txBody>
          <a:bodyPr wrap="square"/>
          <a:lstStyle/>
          <a:p>
            <a:pPr algn="l">
              <a:spcBef>
                <a:spcPts val="0"/>
              </a:spcBef>
              <a:spcAft>
                <a:spcPts val="0"/>
              </a:spcAft>
            </a:pPr>
            <a:r>
              <a:rPr sz="1000" b="0">
                <a:solidFill>
                  <a:srgbClr val="85858A"/>
                </a:solidFill>
                <a:latin typeface="JetBrains Mono"/>
              </a:rPr>
              <a:t>6.45</a:t>
            </a:r>
          </a:p>
        </p:txBody>
      </p:sp>
      <p:sp>
        <p:nvSpPr>
          <p:cNvPr id="10" name="Rectangle 9"/>
          <p:cNvSpPr/>
          <p:nvPr/>
        </p:nvSpPr>
        <p:spPr>
          <a:xfrm>
            <a:off x="7040880" y="1581912"/>
            <a:ext cx="4389120" cy="3200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1536192"/>
            <a:ext cx="731520" cy="320040"/>
          </a:xfrm>
          <a:prstGeom prst="rect">
            <a:avLst/>
          </a:prstGeom>
          <a:noFill/>
        </p:spPr>
        <p:txBody>
          <a:bodyPr wrap="square"/>
          <a:lstStyle/>
          <a:p>
            <a:pPr algn="l">
              <a:spcBef>
                <a:spcPts val="0"/>
              </a:spcBef>
              <a:spcAft>
                <a:spcPts val="0"/>
              </a:spcAft>
            </a:pPr>
            <a:r>
              <a:rPr sz="1000" b="0">
                <a:solidFill>
                  <a:srgbClr val="CC5500"/>
                </a:solidFill>
                <a:latin typeface="JetBrains Mono"/>
              </a:rPr>
              <a:t>10.83</a:t>
            </a:r>
          </a:p>
        </p:txBody>
      </p:sp>
      <p:sp>
        <p:nvSpPr>
          <p:cNvPr id="12" name="TextBox 11"/>
          <p:cNvSpPr txBox="1"/>
          <p:nvPr/>
        </p:nvSpPr>
        <p:spPr>
          <a:xfrm>
            <a:off x="5303520" y="1920240"/>
            <a:ext cx="1645920" cy="274320"/>
          </a:xfrm>
          <a:prstGeom prst="rect">
            <a:avLst/>
          </a:prstGeom>
          <a:noFill/>
        </p:spPr>
        <p:txBody>
          <a:bodyPr wrap="square"/>
          <a:lstStyle/>
          <a:p>
            <a:pPr algn="l">
              <a:spcBef>
                <a:spcPts val="0"/>
              </a:spcBef>
              <a:spcAft>
                <a:spcPts val="0"/>
              </a:spcAft>
            </a:pPr>
            <a:r>
              <a:rPr sz="1200" b="0">
                <a:solidFill>
                  <a:srgbClr val="85858A"/>
                </a:solidFill>
                <a:latin typeface="JetBrains Mono"/>
              </a:rPr>
              <a:t>Critical</a:t>
            </a:r>
          </a:p>
        </p:txBody>
      </p:sp>
      <p:sp>
        <p:nvSpPr>
          <p:cNvPr id="13" name="Rectangle 12"/>
          <p:cNvSpPr/>
          <p:nvPr/>
        </p:nvSpPr>
        <p:spPr>
          <a:xfrm>
            <a:off x="7040880" y="2194560"/>
            <a:ext cx="405274" cy="32004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1874" y="2148840"/>
            <a:ext cx="731520" cy="320040"/>
          </a:xfrm>
          <a:prstGeom prst="rect">
            <a:avLst/>
          </a:prstGeom>
          <a:noFill/>
        </p:spPr>
        <p:txBody>
          <a:bodyPr wrap="square"/>
          <a:lstStyle/>
          <a:p>
            <a:pPr algn="l">
              <a:spcBef>
                <a:spcPts val="0"/>
              </a:spcBef>
              <a:spcAft>
                <a:spcPts val="0"/>
              </a:spcAft>
            </a:pPr>
            <a:r>
              <a:rPr sz="1000" b="0">
                <a:solidFill>
                  <a:srgbClr val="85858A"/>
                </a:solidFill>
                <a:latin typeface="JetBrains Mono"/>
              </a:rPr>
              <a:t>1.0x</a:t>
            </a:r>
          </a:p>
        </p:txBody>
      </p:sp>
      <p:sp>
        <p:nvSpPr>
          <p:cNvPr id="15" name="Rectangle 14"/>
          <p:cNvSpPr/>
          <p:nvPr/>
        </p:nvSpPr>
        <p:spPr>
          <a:xfrm>
            <a:off x="7040880" y="2542032"/>
            <a:ext cx="567383" cy="3200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53983" y="2496312"/>
            <a:ext cx="731520" cy="320040"/>
          </a:xfrm>
          <a:prstGeom prst="rect">
            <a:avLst/>
          </a:prstGeom>
          <a:noFill/>
        </p:spPr>
        <p:txBody>
          <a:bodyPr wrap="square"/>
          <a:lstStyle/>
          <a:p>
            <a:pPr algn="l">
              <a:spcBef>
                <a:spcPts val="0"/>
              </a:spcBef>
              <a:spcAft>
                <a:spcPts val="0"/>
              </a:spcAft>
            </a:pPr>
            <a:r>
              <a:rPr sz="1000" b="0">
                <a:solidFill>
                  <a:srgbClr val="CC5500"/>
                </a:solidFill>
                <a:latin typeface="JetBrains Mono"/>
              </a:rPr>
              <a:t>1.4x</a:t>
            </a:r>
          </a:p>
        </p:txBody>
      </p:sp>
      <p:sp>
        <p:nvSpPr>
          <p:cNvPr id="17" name="TextBox 16"/>
          <p:cNvSpPr txBox="1"/>
          <p:nvPr/>
        </p:nvSpPr>
        <p:spPr>
          <a:xfrm>
            <a:off x="5303520" y="2880360"/>
            <a:ext cx="1645920" cy="274320"/>
          </a:xfrm>
          <a:prstGeom prst="rect">
            <a:avLst/>
          </a:prstGeom>
          <a:noFill/>
        </p:spPr>
        <p:txBody>
          <a:bodyPr wrap="square"/>
          <a:lstStyle/>
          <a:p>
            <a:pPr algn="l">
              <a:spcBef>
                <a:spcPts val="0"/>
              </a:spcBef>
              <a:spcAft>
                <a:spcPts val="0"/>
              </a:spcAft>
            </a:pPr>
            <a:r>
              <a:rPr sz="1200" b="0">
                <a:solidFill>
                  <a:srgbClr val="85858A"/>
                </a:solidFill>
                <a:latin typeface="JetBrains Mono"/>
              </a:rPr>
              <a:t>Major</a:t>
            </a:r>
          </a:p>
        </p:txBody>
      </p:sp>
      <p:sp>
        <p:nvSpPr>
          <p:cNvPr id="18" name="Rectangle 17"/>
          <p:cNvSpPr/>
          <p:nvPr/>
        </p:nvSpPr>
        <p:spPr>
          <a:xfrm>
            <a:off x="7040880" y="3154680"/>
            <a:ext cx="405274" cy="32004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1874" y="3108960"/>
            <a:ext cx="731520" cy="320040"/>
          </a:xfrm>
          <a:prstGeom prst="rect">
            <a:avLst/>
          </a:prstGeom>
          <a:noFill/>
        </p:spPr>
        <p:txBody>
          <a:bodyPr wrap="square"/>
          <a:lstStyle/>
          <a:p>
            <a:pPr algn="l">
              <a:spcBef>
                <a:spcPts val="0"/>
              </a:spcBef>
              <a:spcAft>
                <a:spcPts val="0"/>
              </a:spcAft>
            </a:pPr>
            <a:r>
              <a:rPr sz="1000" b="0">
                <a:solidFill>
                  <a:srgbClr val="85858A"/>
                </a:solidFill>
                <a:latin typeface="JetBrains Mono"/>
              </a:rPr>
              <a:t>1.0x</a:t>
            </a:r>
          </a:p>
        </p:txBody>
      </p:sp>
      <p:sp>
        <p:nvSpPr>
          <p:cNvPr id="20" name="Rectangle 19"/>
          <p:cNvSpPr/>
          <p:nvPr/>
        </p:nvSpPr>
        <p:spPr>
          <a:xfrm>
            <a:off x="7040880" y="3502152"/>
            <a:ext cx="688966" cy="3200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5566" y="3456432"/>
            <a:ext cx="731520" cy="320040"/>
          </a:xfrm>
          <a:prstGeom prst="rect">
            <a:avLst/>
          </a:prstGeom>
          <a:noFill/>
        </p:spPr>
        <p:txBody>
          <a:bodyPr wrap="square"/>
          <a:lstStyle/>
          <a:p>
            <a:pPr algn="l">
              <a:spcBef>
                <a:spcPts val="0"/>
              </a:spcBef>
              <a:spcAft>
                <a:spcPts val="0"/>
              </a:spcAft>
            </a:pPr>
            <a:r>
              <a:rPr sz="1000" b="0">
                <a:solidFill>
                  <a:srgbClr val="CC5500"/>
                </a:solidFill>
                <a:latin typeface="JetBrains Mono"/>
              </a:rPr>
              <a:t>1.7x</a:t>
            </a:r>
          </a:p>
        </p:txBody>
      </p:sp>
      <p:sp>
        <p:nvSpPr>
          <p:cNvPr id="22" name="TextBox 21"/>
          <p:cNvSpPr txBox="1"/>
          <p:nvPr/>
        </p:nvSpPr>
        <p:spPr>
          <a:xfrm>
            <a:off x="5303520" y="3840480"/>
            <a:ext cx="1645920" cy="274320"/>
          </a:xfrm>
          <a:prstGeom prst="rect">
            <a:avLst/>
          </a:prstGeom>
          <a:noFill/>
        </p:spPr>
        <p:txBody>
          <a:bodyPr wrap="square"/>
          <a:lstStyle/>
          <a:p>
            <a:pPr algn="l">
              <a:spcBef>
                <a:spcPts val="0"/>
              </a:spcBef>
              <a:spcAft>
                <a:spcPts val="0"/>
              </a:spcAft>
            </a:pPr>
            <a:r>
              <a:rPr sz="1200" b="0">
                <a:solidFill>
                  <a:srgbClr val="85858A"/>
                </a:solidFill>
                <a:latin typeface="JetBrains Mono"/>
              </a:rPr>
              <a:t>Security</a:t>
            </a:r>
          </a:p>
        </p:txBody>
      </p:sp>
      <p:sp>
        <p:nvSpPr>
          <p:cNvPr id="23" name="Rectangle 22"/>
          <p:cNvSpPr/>
          <p:nvPr/>
        </p:nvSpPr>
        <p:spPr>
          <a:xfrm>
            <a:off x="7040880" y="4114800"/>
            <a:ext cx="405274" cy="32004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1874" y="4069080"/>
            <a:ext cx="731520" cy="320040"/>
          </a:xfrm>
          <a:prstGeom prst="rect">
            <a:avLst/>
          </a:prstGeom>
          <a:noFill/>
        </p:spPr>
        <p:txBody>
          <a:bodyPr wrap="square"/>
          <a:lstStyle/>
          <a:p>
            <a:pPr algn="l">
              <a:spcBef>
                <a:spcPts val="0"/>
              </a:spcBef>
              <a:spcAft>
                <a:spcPts val="0"/>
              </a:spcAft>
            </a:pPr>
            <a:r>
              <a:rPr sz="1000" b="0">
                <a:solidFill>
                  <a:srgbClr val="85858A"/>
                </a:solidFill>
                <a:latin typeface="JetBrains Mono"/>
              </a:rPr>
              <a:t>1.0x</a:t>
            </a:r>
          </a:p>
        </p:txBody>
      </p:sp>
      <p:sp>
        <p:nvSpPr>
          <p:cNvPr id="25" name="Rectangle 24"/>
          <p:cNvSpPr/>
          <p:nvPr/>
        </p:nvSpPr>
        <p:spPr>
          <a:xfrm>
            <a:off x="7040880" y="4462272"/>
            <a:ext cx="636280" cy="3200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2880" y="4416552"/>
            <a:ext cx="731520" cy="320040"/>
          </a:xfrm>
          <a:prstGeom prst="rect">
            <a:avLst/>
          </a:prstGeom>
          <a:noFill/>
        </p:spPr>
        <p:txBody>
          <a:bodyPr wrap="square"/>
          <a:lstStyle/>
          <a:p>
            <a:pPr algn="l">
              <a:spcBef>
                <a:spcPts val="0"/>
              </a:spcBef>
              <a:spcAft>
                <a:spcPts val="0"/>
              </a:spcAft>
            </a:pPr>
            <a:r>
              <a:rPr sz="1000" b="0">
                <a:solidFill>
                  <a:srgbClr val="CC5500"/>
                </a:solidFill>
                <a:latin typeface="JetBrains Mono"/>
              </a:rPr>
              <a:t>1.57x</a:t>
            </a:r>
          </a:p>
        </p:txBody>
      </p:sp>
      <p:sp>
        <p:nvSpPr>
          <p:cNvPr id="27" name="TextBox 26"/>
          <p:cNvSpPr txBox="1"/>
          <p:nvPr/>
        </p:nvSpPr>
        <p:spPr>
          <a:xfrm>
            <a:off x="5303520" y="4800600"/>
            <a:ext cx="1645920" cy="274320"/>
          </a:xfrm>
          <a:prstGeom prst="rect">
            <a:avLst/>
          </a:prstGeom>
          <a:noFill/>
        </p:spPr>
        <p:txBody>
          <a:bodyPr wrap="square"/>
          <a:lstStyle/>
          <a:p>
            <a:pPr algn="l">
              <a:spcBef>
                <a:spcPts val="0"/>
              </a:spcBef>
              <a:spcAft>
                <a:spcPts val="0"/>
              </a:spcAft>
            </a:pPr>
            <a:r>
              <a:rPr sz="1200" b="0">
                <a:solidFill>
                  <a:srgbClr val="85858A"/>
                </a:solidFill>
                <a:latin typeface="JetBrains Mono"/>
              </a:rPr>
              <a:t>Maintainability</a:t>
            </a:r>
          </a:p>
        </p:txBody>
      </p:sp>
      <p:sp>
        <p:nvSpPr>
          <p:cNvPr id="28" name="Rectangle 27"/>
          <p:cNvSpPr/>
          <p:nvPr/>
        </p:nvSpPr>
        <p:spPr>
          <a:xfrm>
            <a:off x="7040880" y="5074920"/>
            <a:ext cx="405274" cy="32004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1874" y="5029200"/>
            <a:ext cx="731520" cy="320040"/>
          </a:xfrm>
          <a:prstGeom prst="rect">
            <a:avLst/>
          </a:prstGeom>
          <a:noFill/>
        </p:spPr>
        <p:txBody>
          <a:bodyPr wrap="square"/>
          <a:lstStyle/>
          <a:p>
            <a:pPr algn="l">
              <a:spcBef>
                <a:spcPts val="0"/>
              </a:spcBef>
              <a:spcAft>
                <a:spcPts val="0"/>
              </a:spcAft>
            </a:pPr>
            <a:r>
              <a:rPr sz="1000" b="0">
                <a:solidFill>
                  <a:srgbClr val="85858A"/>
                </a:solidFill>
                <a:latin typeface="JetBrains Mono"/>
              </a:rPr>
              <a:t>1.0x</a:t>
            </a:r>
          </a:p>
        </p:txBody>
      </p:sp>
      <p:sp>
        <p:nvSpPr>
          <p:cNvPr id="30" name="Rectangle 29"/>
          <p:cNvSpPr/>
          <p:nvPr/>
        </p:nvSpPr>
        <p:spPr>
          <a:xfrm>
            <a:off x="7040880" y="5422392"/>
            <a:ext cx="664649" cy="3200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51249" y="5376672"/>
            <a:ext cx="731520" cy="320040"/>
          </a:xfrm>
          <a:prstGeom prst="rect">
            <a:avLst/>
          </a:prstGeom>
          <a:noFill/>
        </p:spPr>
        <p:txBody>
          <a:bodyPr wrap="square"/>
          <a:lstStyle/>
          <a:p>
            <a:pPr algn="l">
              <a:spcBef>
                <a:spcPts val="0"/>
              </a:spcBef>
              <a:spcAft>
                <a:spcPts val="0"/>
              </a:spcAft>
            </a:pPr>
            <a:r>
              <a:rPr sz="1000" b="0">
                <a:solidFill>
                  <a:srgbClr val="CC5500"/>
                </a:solidFill>
                <a:latin typeface="JetBrains Mono"/>
              </a:rPr>
              <a:t>1.64x</a:t>
            </a:r>
          </a:p>
        </p:txBody>
      </p:sp>
      <p:sp>
        <p:nvSpPr>
          <p:cNvPr id="32" name="Rectangle 31"/>
          <p:cNvSpPr/>
          <p:nvPr/>
        </p:nvSpPr>
        <p:spPr>
          <a:xfrm>
            <a:off x="5394960" y="5532120"/>
            <a:ext cx="274320" cy="18288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0" y="5486400"/>
            <a:ext cx="914400" cy="274320"/>
          </a:xfrm>
          <a:prstGeom prst="rect">
            <a:avLst/>
          </a:prstGeom>
          <a:noFill/>
        </p:spPr>
        <p:txBody>
          <a:bodyPr wrap="square"/>
          <a:lstStyle/>
          <a:p>
            <a:pPr algn="l">
              <a:spcBef>
                <a:spcPts val="0"/>
              </a:spcBef>
              <a:spcAft>
                <a:spcPts val="0"/>
              </a:spcAft>
            </a:pPr>
            <a:r>
              <a:rPr sz="1000" b="0">
                <a:solidFill>
                  <a:srgbClr val="85858A"/>
                </a:solidFill>
                <a:latin typeface="JetBrains Mono"/>
              </a:rPr>
              <a:t>Human</a:t>
            </a:r>
          </a:p>
        </p:txBody>
      </p:sp>
      <p:sp>
        <p:nvSpPr>
          <p:cNvPr id="34" name="Rectangle 33"/>
          <p:cNvSpPr/>
          <p:nvPr/>
        </p:nvSpPr>
        <p:spPr>
          <a:xfrm>
            <a:off x="6949440" y="5532120"/>
            <a:ext cx="274320" cy="18288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5486400"/>
            <a:ext cx="914400" cy="274320"/>
          </a:xfrm>
          <a:prstGeom prst="rect">
            <a:avLst/>
          </a:prstGeom>
          <a:noFill/>
        </p:spPr>
        <p:txBody>
          <a:bodyPr wrap="square"/>
          <a:lstStyle/>
          <a:p>
            <a:pPr algn="l">
              <a:spcBef>
                <a:spcPts val="0"/>
              </a:spcBef>
              <a:spcAft>
                <a:spcPts val="0"/>
              </a:spcAft>
            </a:pPr>
            <a:r>
              <a:rPr sz="1000" b="0">
                <a:solidFill>
                  <a:srgbClr val="CC5500"/>
                </a:solidFill>
                <a:latin typeface="JetBrains Mono"/>
              </a:rPr>
              <a:t>AI-generated</a:t>
            </a:r>
          </a:p>
        </p:txBody>
      </p:sp>
      <p:sp>
        <p:nvSpPr>
          <p:cNvPr id="36" name="TextBox 35"/>
          <p:cNvSpPr txBox="1"/>
          <p:nvPr/>
        </p:nvSpPr>
        <p:spPr>
          <a:xfrm>
            <a:off x="5303520" y="5715000"/>
            <a:ext cx="5943600" cy="274320"/>
          </a:xfrm>
          <a:prstGeom prst="rect">
            <a:avLst/>
          </a:prstGeom>
          <a:noFill/>
        </p:spPr>
        <p:txBody>
          <a:bodyPr wrap="square"/>
          <a:lstStyle/>
          <a:p>
            <a:pPr algn="l">
              <a:spcBef>
                <a:spcPts val="0"/>
              </a:spcBef>
              <a:spcAft>
                <a:spcPts val="0"/>
              </a:spcAft>
            </a:pPr>
            <a:r>
              <a:rPr sz="900" b="0">
                <a:solidFill>
                  <a:srgbClr val="85858A"/>
                </a:solidFill>
                <a:latin typeface="Inter"/>
              </a:rPr>
              <a:t>Source: CodeRabbit, State of AI vs Human Code Generation (2025)</a:t>
            </a:r>
          </a:p>
        </p:txBody>
      </p:sp>
      <p:sp>
        <p:nvSpPr>
          <p:cNvPr id="37" name="TextBox 36"/>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lstStyle/>
          <a:p>
            <a:pPr algn="l">
              <a:spcBef>
                <a:spcPts val="0"/>
              </a:spcBef>
              <a:spcAft>
                <a:spcPts val="0"/>
              </a:spcAft>
            </a:pPr>
            <a:r>
              <a:rPr sz="4000" b="1">
                <a:solidFill>
                  <a:srgbClr val="EBEBEB"/>
                </a:solidFill>
                <a:latin typeface="JetBrains Mono"/>
              </a:rPr>
              <a:t>The compliance clock is ticking</a:t>
            </a:r>
          </a:p>
        </p:txBody>
      </p:sp>
      <p:sp>
        <p:nvSpPr>
          <p:cNvPr id="3" name="TextBox 2"/>
          <p:cNvSpPr txBox="1"/>
          <p:nvPr/>
        </p:nvSpPr>
        <p:spPr>
          <a:xfrm>
            <a:off x="685800" y="1188720"/>
            <a:ext cx="4572000" cy="731520"/>
          </a:xfrm>
          <a:prstGeom prst="rect">
            <a:avLst/>
          </a:prstGeom>
          <a:noFill/>
        </p:spPr>
        <p:txBody>
          <a:bodyPr wrap="square"/>
          <a:lstStyle/>
          <a:p>
            <a:pPr algn="l">
              <a:spcBef>
                <a:spcPts val="0"/>
              </a:spcBef>
              <a:spcAft>
                <a:spcPts val="0"/>
              </a:spcAft>
            </a:pPr>
            <a:r>
              <a:rPr sz="6400" b="1">
                <a:solidFill>
                  <a:srgbClr val="CC5500"/>
                </a:solidFill>
                <a:latin typeface="JetBrains Mono"/>
              </a:rPr>
              <a:t>August 2026</a:t>
            </a:r>
          </a:p>
        </p:txBody>
      </p:sp>
      <p:sp>
        <p:nvSpPr>
          <p:cNvPr id="4" name="TextBox 3"/>
          <p:cNvSpPr txBox="1"/>
          <p:nvPr/>
        </p:nvSpPr>
        <p:spPr>
          <a:xfrm>
            <a:off x="685800" y="2011680"/>
            <a:ext cx="4572000" cy="365760"/>
          </a:xfrm>
          <a:prstGeom prst="rect">
            <a:avLst/>
          </a:prstGeom>
          <a:noFill/>
        </p:spPr>
        <p:txBody>
          <a:bodyPr wrap="square"/>
          <a:lstStyle/>
          <a:p>
            <a:pPr algn="l">
              <a:spcBef>
                <a:spcPts val="0"/>
              </a:spcBef>
              <a:spcAft>
                <a:spcPts val="0"/>
              </a:spcAft>
            </a:pPr>
            <a:r>
              <a:rPr sz="1600" b="0">
                <a:solidFill>
                  <a:srgbClr val="85858A"/>
                </a:solidFill>
                <a:latin typeface="Inter"/>
              </a:rPr>
              <a:t>EU AI Act high-risk enforcement — 5 months away</a:t>
            </a:r>
          </a:p>
        </p:txBody>
      </p:sp>
      <p:sp>
        <p:nvSpPr>
          <p:cNvPr id="5" name="TextBox 4"/>
          <p:cNvSpPr txBox="1"/>
          <p:nvPr/>
        </p:nvSpPr>
        <p:spPr>
          <a:xfrm>
            <a:off x="685800" y="2651760"/>
            <a:ext cx="4572000" cy="1371600"/>
          </a:xfrm>
          <a:prstGeom prst="rect">
            <a:avLst/>
          </a:prstGeom>
          <a:noFill/>
        </p:spPr>
        <p:txBody>
          <a:bodyPr wrap="square"/>
          <a:lstStyle/>
          <a:p>
            <a:pPr algn="l">
              <a:spcBef>
                <a:spcPts val="400"/>
              </a:spcBef>
              <a:spcAft>
                <a:spcPts val="400"/>
              </a:spcAft>
            </a:pPr>
            <a:r>
              <a:rPr sz="1500" b="0">
                <a:solidFill>
                  <a:srgbClr val="EBEBEB"/>
                </a:solidFill>
                <a:latin typeface="Inter"/>
              </a:rPr>
              <a:t>Penalties: up to 7% of global annual turnover</a:t>
            </a:r>
          </a:p>
          <a:p>
            <a:pPr algn="l">
              <a:spcBef>
                <a:spcPts val="400"/>
              </a:spcBef>
              <a:spcAft>
                <a:spcPts val="400"/>
              </a:spcAft>
            </a:pPr>
            <a:r>
              <a:rPr sz="1500" b="0">
                <a:solidFill>
                  <a:srgbClr val="EBEBEB"/>
                </a:solidFill>
                <a:latin typeface="Inter"/>
              </a:rPr>
              <a:t>Gartner: 40% of AI coding projects cancelled by 2027</a:t>
            </a:r>
          </a:p>
          <a:p>
            <a:pPr algn="l">
              <a:spcBef>
                <a:spcPts val="400"/>
              </a:spcBef>
              <a:spcAft>
                <a:spcPts val="400"/>
              </a:spcAft>
            </a:pPr>
            <a:r>
              <a:rPr sz="1500" b="0">
                <a:solidFill>
                  <a:srgbClr val="EBEBEB"/>
                </a:solidFill>
                <a:latin typeface="Inter"/>
              </a:rPr>
              <a:t>75% of tech leaders face moderate to severe AI technical debt</a:t>
            </a:r>
          </a:p>
        </p:txBody>
      </p:sp>
      <p:cxnSp>
        <p:nvCxnSpPr>
          <p:cNvPr id="6" name="Connector 5"/>
          <p:cNvCxnSpPr/>
          <p:nvPr/>
        </p:nvCxnSpPr>
        <p:spPr>
          <a:xfrm>
            <a:off x="685800" y="4663440"/>
            <a:ext cx="10820095"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22300" y="4599940"/>
            <a:ext cx="127000" cy="127000"/>
          </a:xfrm>
          <a:prstGeom prst="ellipse">
            <a:avLst/>
          </a:prstGeom>
          <a:solidFill>
            <a:srgbClr val="85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4251960"/>
            <a:ext cx="914400" cy="274320"/>
          </a:xfrm>
          <a:prstGeom prst="rect">
            <a:avLst/>
          </a:prstGeom>
          <a:noFill/>
        </p:spPr>
        <p:txBody>
          <a:bodyPr wrap="square"/>
          <a:lstStyle/>
          <a:p>
            <a:pPr algn="ctr">
              <a:spcBef>
                <a:spcPts val="0"/>
              </a:spcBef>
              <a:spcAft>
                <a:spcPts val="0"/>
              </a:spcAft>
            </a:pPr>
            <a:r>
              <a:rPr sz="1000" b="0">
                <a:solidFill>
                  <a:srgbClr val="85858A"/>
                </a:solidFill>
                <a:latin typeface="JetBrains Mono"/>
              </a:rPr>
              <a:t>Feb 2025</a:t>
            </a:r>
          </a:p>
        </p:txBody>
      </p:sp>
      <p:sp>
        <p:nvSpPr>
          <p:cNvPr id="9" name="TextBox 8"/>
          <p:cNvSpPr txBox="1"/>
          <p:nvPr/>
        </p:nvSpPr>
        <p:spPr>
          <a:xfrm>
            <a:off x="137160"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Prohibitions
active</a:t>
            </a:r>
          </a:p>
        </p:txBody>
      </p:sp>
      <p:sp>
        <p:nvSpPr>
          <p:cNvPr id="10" name="Oval 9"/>
          <p:cNvSpPr/>
          <p:nvPr/>
        </p:nvSpPr>
        <p:spPr>
          <a:xfrm>
            <a:off x="2786319" y="4599940"/>
            <a:ext cx="127000" cy="127000"/>
          </a:xfrm>
          <a:prstGeom prst="ellipse">
            <a:avLst/>
          </a:prstGeom>
          <a:solidFill>
            <a:srgbClr val="85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2619" y="4251960"/>
            <a:ext cx="914400" cy="274320"/>
          </a:xfrm>
          <a:prstGeom prst="rect">
            <a:avLst/>
          </a:prstGeom>
          <a:noFill/>
        </p:spPr>
        <p:txBody>
          <a:bodyPr wrap="square"/>
          <a:lstStyle/>
          <a:p>
            <a:pPr algn="ctr">
              <a:spcBef>
                <a:spcPts val="0"/>
              </a:spcBef>
              <a:spcAft>
                <a:spcPts val="0"/>
              </a:spcAft>
            </a:pPr>
            <a:r>
              <a:rPr sz="1000" b="0">
                <a:solidFill>
                  <a:srgbClr val="85858A"/>
                </a:solidFill>
                <a:latin typeface="JetBrains Mono"/>
              </a:rPr>
              <a:t>Aug 2025</a:t>
            </a:r>
          </a:p>
        </p:txBody>
      </p:sp>
      <p:sp>
        <p:nvSpPr>
          <p:cNvPr id="12" name="TextBox 11"/>
          <p:cNvSpPr txBox="1"/>
          <p:nvPr/>
        </p:nvSpPr>
        <p:spPr>
          <a:xfrm>
            <a:off x="2301179"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GPAI
obligations</a:t>
            </a:r>
          </a:p>
        </p:txBody>
      </p:sp>
      <p:sp>
        <p:nvSpPr>
          <p:cNvPr id="13" name="Oval 12"/>
          <p:cNvSpPr/>
          <p:nvPr/>
        </p:nvSpPr>
        <p:spPr>
          <a:xfrm>
            <a:off x="4924938" y="4574540"/>
            <a:ext cx="177800" cy="177800"/>
          </a:xfrm>
          <a:prstGeom prst="ellips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6638" y="4251960"/>
            <a:ext cx="914400" cy="274320"/>
          </a:xfrm>
          <a:prstGeom prst="rect">
            <a:avLst/>
          </a:prstGeom>
          <a:noFill/>
        </p:spPr>
        <p:txBody>
          <a:bodyPr wrap="square"/>
          <a:lstStyle/>
          <a:p>
            <a:pPr algn="ctr">
              <a:spcBef>
                <a:spcPts val="0"/>
              </a:spcBef>
              <a:spcAft>
                <a:spcPts val="0"/>
              </a:spcAft>
            </a:pPr>
            <a:r>
              <a:rPr sz="1000" b="1">
                <a:solidFill>
                  <a:srgbClr val="CC5500"/>
                </a:solidFill>
                <a:latin typeface="JetBrains Mono"/>
              </a:rPr>
              <a:t>Mar 2026</a:t>
            </a:r>
          </a:p>
        </p:txBody>
      </p:sp>
      <p:sp>
        <p:nvSpPr>
          <p:cNvPr id="15" name="TextBox 14"/>
          <p:cNvSpPr txBox="1"/>
          <p:nvPr/>
        </p:nvSpPr>
        <p:spPr>
          <a:xfrm>
            <a:off x="4465198"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NOW</a:t>
            </a:r>
          </a:p>
        </p:txBody>
      </p:sp>
      <p:sp>
        <p:nvSpPr>
          <p:cNvPr id="16" name="Oval 15"/>
          <p:cNvSpPr/>
          <p:nvPr/>
        </p:nvSpPr>
        <p:spPr>
          <a:xfrm>
            <a:off x="6872555" y="4574540"/>
            <a:ext cx="177800" cy="177800"/>
          </a:xfrm>
          <a:prstGeom prst="ellips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4255" y="4251960"/>
            <a:ext cx="914400" cy="274320"/>
          </a:xfrm>
          <a:prstGeom prst="rect">
            <a:avLst/>
          </a:prstGeom>
          <a:noFill/>
        </p:spPr>
        <p:txBody>
          <a:bodyPr wrap="square"/>
          <a:lstStyle/>
          <a:p>
            <a:pPr algn="ctr">
              <a:spcBef>
                <a:spcPts val="0"/>
              </a:spcBef>
              <a:spcAft>
                <a:spcPts val="0"/>
              </a:spcAft>
            </a:pPr>
            <a:r>
              <a:rPr sz="1000" b="1">
                <a:solidFill>
                  <a:srgbClr val="CC5500"/>
                </a:solidFill>
                <a:latin typeface="JetBrains Mono"/>
              </a:rPr>
              <a:t>Aug 2026</a:t>
            </a:r>
          </a:p>
        </p:txBody>
      </p:sp>
      <p:sp>
        <p:nvSpPr>
          <p:cNvPr id="18" name="TextBox 17"/>
          <p:cNvSpPr txBox="1"/>
          <p:nvPr/>
        </p:nvSpPr>
        <p:spPr>
          <a:xfrm>
            <a:off x="6412815"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High-risk
enforcement</a:t>
            </a:r>
          </a:p>
        </p:txBody>
      </p:sp>
      <p:sp>
        <p:nvSpPr>
          <p:cNvPr id="19" name="Oval 18"/>
          <p:cNvSpPr/>
          <p:nvPr/>
        </p:nvSpPr>
        <p:spPr>
          <a:xfrm>
            <a:off x="8737371" y="4599940"/>
            <a:ext cx="127000" cy="127000"/>
          </a:xfrm>
          <a:prstGeom prst="ellipse">
            <a:avLst/>
          </a:prstGeom>
          <a:solidFill>
            <a:srgbClr val="85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671" y="4251960"/>
            <a:ext cx="914400" cy="274320"/>
          </a:xfrm>
          <a:prstGeom prst="rect">
            <a:avLst/>
          </a:prstGeom>
          <a:noFill/>
        </p:spPr>
        <p:txBody>
          <a:bodyPr wrap="square"/>
          <a:lstStyle/>
          <a:p>
            <a:pPr algn="ctr">
              <a:spcBef>
                <a:spcPts val="0"/>
              </a:spcBef>
              <a:spcAft>
                <a:spcPts val="0"/>
              </a:spcAft>
            </a:pPr>
            <a:r>
              <a:rPr sz="1000" b="0">
                <a:solidFill>
                  <a:srgbClr val="85858A"/>
                </a:solidFill>
                <a:latin typeface="JetBrains Mono"/>
              </a:rPr>
              <a:t>2027</a:t>
            </a:r>
          </a:p>
        </p:txBody>
      </p:sp>
      <p:sp>
        <p:nvSpPr>
          <p:cNvPr id="21" name="TextBox 20"/>
          <p:cNvSpPr txBox="1"/>
          <p:nvPr/>
        </p:nvSpPr>
        <p:spPr>
          <a:xfrm>
            <a:off x="8252231"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Full
enforcement</a:t>
            </a:r>
          </a:p>
        </p:txBody>
      </p:sp>
      <p:sp>
        <p:nvSpPr>
          <p:cNvPr id="22" name="Oval 21"/>
          <p:cNvSpPr/>
          <p:nvPr/>
        </p:nvSpPr>
        <p:spPr>
          <a:xfrm>
            <a:off x="10901390" y="4599940"/>
            <a:ext cx="127000" cy="127000"/>
          </a:xfrm>
          <a:prstGeom prst="ellipse">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07690" y="4251960"/>
            <a:ext cx="914400" cy="274320"/>
          </a:xfrm>
          <a:prstGeom prst="rect">
            <a:avLst/>
          </a:prstGeom>
          <a:noFill/>
        </p:spPr>
        <p:txBody>
          <a:bodyPr wrap="square"/>
          <a:lstStyle/>
          <a:p>
            <a:pPr algn="ctr">
              <a:spcBef>
                <a:spcPts val="0"/>
              </a:spcBef>
              <a:spcAft>
                <a:spcPts val="0"/>
              </a:spcAft>
            </a:pPr>
            <a:r>
              <a:rPr sz="1000" b="0">
                <a:solidFill>
                  <a:srgbClr val="2E8B57"/>
                </a:solidFill>
                <a:latin typeface="JetBrains Mono"/>
              </a:rPr>
              <a:t>2030</a:t>
            </a:r>
          </a:p>
        </p:txBody>
      </p:sp>
      <p:sp>
        <p:nvSpPr>
          <p:cNvPr id="24" name="TextBox 23"/>
          <p:cNvSpPr txBox="1"/>
          <p:nvPr/>
        </p:nvSpPr>
        <p:spPr>
          <a:xfrm>
            <a:off x="10416250" y="4892040"/>
            <a:ext cx="1097280" cy="548640"/>
          </a:xfrm>
          <a:prstGeom prst="rect">
            <a:avLst/>
          </a:prstGeom>
          <a:noFill/>
        </p:spPr>
        <p:txBody>
          <a:bodyPr wrap="square"/>
          <a:lstStyle/>
          <a:p>
            <a:pPr algn="ctr">
              <a:spcBef>
                <a:spcPts val="0"/>
              </a:spcBef>
              <a:spcAft>
                <a:spcPts val="0"/>
              </a:spcAft>
            </a:pPr>
            <a:r>
              <a:rPr sz="1000" b="0">
                <a:solidFill>
                  <a:srgbClr val="85858A"/>
                </a:solidFill>
                <a:latin typeface="Inter"/>
              </a:rPr>
              <a:t>&gt;$1B
governance</a:t>
            </a:r>
          </a:p>
        </p:txBody>
      </p:sp>
      <p:sp>
        <p:nvSpPr>
          <p:cNvPr id="25" name="Rectangle 24"/>
          <p:cNvSpPr/>
          <p:nvPr/>
        </p:nvSpPr>
        <p:spPr>
          <a:xfrm>
            <a:off x="7589520" y="731520"/>
            <a:ext cx="3931920" cy="29260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914400"/>
            <a:ext cx="3474720" cy="365760"/>
          </a:xfrm>
          <a:prstGeom prst="rect">
            <a:avLst/>
          </a:prstGeom>
          <a:noFill/>
        </p:spPr>
        <p:txBody>
          <a:bodyPr wrap="square"/>
          <a:lstStyle/>
          <a:p>
            <a:pPr algn="l">
              <a:spcBef>
                <a:spcPts val="0"/>
              </a:spcBef>
              <a:spcAft>
                <a:spcPts val="0"/>
              </a:spcAft>
            </a:pPr>
            <a:r>
              <a:rPr sz="1400" b="0">
                <a:solidFill>
                  <a:srgbClr val="EBEBEB"/>
                </a:solidFill>
                <a:latin typeface="JetBrains Mono"/>
              </a:rPr>
              <a:t>AI Governance Platform Spend</a:t>
            </a:r>
          </a:p>
        </p:txBody>
      </p:sp>
      <p:sp>
        <p:nvSpPr>
          <p:cNvPr id="27" name="Rectangle 26"/>
          <p:cNvSpPr/>
          <p:nvPr/>
        </p:nvSpPr>
        <p:spPr>
          <a:xfrm>
            <a:off x="7772400" y="1554480"/>
            <a:ext cx="1828800" cy="54864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1600200"/>
            <a:ext cx="1645920" cy="457200"/>
          </a:xfrm>
          <a:prstGeom prst="rect">
            <a:avLst/>
          </a:prstGeom>
          <a:noFill/>
        </p:spPr>
        <p:txBody>
          <a:bodyPr wrap="square"/>
          <a:lstStyle/>
          <a:p>
            <a:pPr algn="l">
              <a:spcBef>
                <a:spcPts val="0"/>
              </a:spcBef>
              <a:spcAft>
                <a:spcPts val="0"/>
              </a:spcAft>
            </a:pPr>
            <a:r>
              <a:rPr sz="1600" b="1">
                <a:solidFill>
                  <a:srgbClr val="0D0D0F"/>
                </a:solidFill>
                <a:latin typeface="JetBrains Mono"/>
              </a:rPr>
              <a:t>USD 492M</a:t>
            </a:r>
          </a:p>
        </p:txBody>
      </p:sp>
      <p:sp>
        <p:nvSpPr>
          <p:cNvPr id="29" name="TextBox 28"/>
          <p:cNvSpPr txBox="1"/>
          <p:nvPr/>
        </p:nvSpPr>
        <p:spPr>
          <a:xfrm>
            <a:off x="9692640" y="1600200"/>
            <a:ext cx="914400" cy="457200"/>
          </a:xfrm>
          <a:prstGeom prst="rect">
            <a:avLst/>
          </a:prstGeom>
          <a:noFill/>
        </p:spPr>
        <p:txBody>
          <a:bodyPr wrap="square"/>
          <a:lstStyle/>
          <a:p>
            <a:pPr algn="l">
              <a:spcBef>
                <a:spcPts val="0"/>
              </a:spcBef>
              <a:spcAft>
                <a:spcPts val="0"/>
              </a:spcAft>
            </a:pPr>
            <a:r>
              <a:rPr sz="1200" b="0">
                <a:solidFill>
                  <a:srgbClr val="85858A"/>
                </a:solidFill>
                <a:latin typeface="JetBrains Mono"/>
              </a:rPr>
              <a:t>2026</a:t>
            </a:r>
          </a:p>
        </p:txBody>
      </p:sp>
      <p:sp>
        <p:nvSpPr>
          <p:cNvPr id="30" name="Rectangle 29"/>
          <p:cNvSpPr/>
          <p:nvPr/>
        </p:nvSpPr>
        <p:spPr>
          <a:xfrm>
            <a:off x="7772400" y="2377440"/>
            <a:ext cx="3474720" cy="548640"/>
          </a:xfrm>
          <a:prstGeom prst="rect">
            <a:avLst/>
          </a:prstGeom>
          <a:solidFill>
            <a:srgbClr val="2E8B57"/>
          </a:solidFill>
          <a:ln>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2423160"/>
            <a:ext cx="1828800" cy="457200"/>
          </a:xfrm>
          <a:prstGeom prst="rect">
            <a:avLst/>
          </a:prstGeom>
          <a:noFill/>
        </p:spPr>
        <p:txBody>
          <a:bodyPr wrap="square"/>
          <a:lstStyle/>
          <a:p>
            <a:pPr algn="l">
              <a:spcBef>
                <a:spcPts val="0"/>
              </a:spcBef>
              <a:spcAft>
                <a:spcPts val="0"/>
              </a:spcAft>
            </a:pPr>
            <a:r>
              <a:rPr sz="1600" b="1">
                <a:solidFill>
                  <a:srgbClr val="0D0D0F"/>
                </a:solidFill>
                <a:latin typeface="JetBrains Mono"/>
              </a:rPr>
              <a:t>&gt;USD 1B</a:t>
            </a:r>
          </a:p>
        </p:txBody>
      </p:sp>
      <p:sp>
        <p:nvSpPr>
          <p:cNvPr id="32" name="TextBox 31"/>
          <p:cNvSpPr txBox="1"/>
          <p:nvPr/>
        </p:nvSpPr>
        <p:spPr>
          <a:xfrm>
            <a:off x="11338560" y="2423160"/>
            <a:ext cx="914400" cy="457200"/>
          </a:xfrm>
          <a:prstGeom prst="rect">
            <a:avLst/>
          </a:prstGeom>
          <a:noFill/>
        </p:spPr>
        <p:txBody>
          <a:bodyPr wrap="square"/>
          <a:lstStyle/>
          <a:p>
            <a:pPr algn="l">
              <a:spcBef>
                <a:spcPts val="0"/>
              </a:spcBef>
              <a:spcAft>
                <a:spcPts val="0"/>
              </a:spcAft>
            </a:pPr>
            <a:r>
              <a:rPr sz="1200" b="0">
                <a:solidFill>
                  <a:srgbClr val="85858A"/>
                </a:solidFill>
                <a:latin typeface="JetBrains Mono"/>
              </a:rPr>
              <a:t>2030</a:t>
            </a:r>
          </a:p>
        </p:txBody>
      </p:sp>
      <p:sp>
        <p:nvSpPr>
          <p:cNvPr id="33" name="TextBox 32"/>
          <p:cNvSpPr txBox="1"/>
          <p:nvPr/>
        </p:nvSpPr>
        <p:spPr>
          <a:xfrm>
            <a:off x="7772400" y="3291840"/>
            <a:ext cx="3474720" cy="274320"/>
          </a:xfrm>
          <a:prstGeom prst="rect">
            <a:avLst/>
          </a:prstGeom>
          <a:noFill/>
        </p:spPr>
        <p:txBody>
          <a:bodyPr wrap="square"/>
          <a:lstStyle/>
          <a:p>
            <a:pPr algn="l">
              <a:spcBef>
                <a:spcPts val="0"/>
              </a:spcBef>
              <a:spcAft>
                <a:spcPts val="0"/>
              </a:spcAft>
            </a:pPr>
            <a:r>
              <a:rPr sz="900" b="0">
                <a:solidFill>
                  <a:srgbClr val="85858A"/>
                </a:solidFill>
                <a:latin typeface="Inter"/>
              </a:rPr>
              <a:t>Gartner, Feb 2026</a:t>
            </a:r>
          </a:p>
        </p:txBody>
      </p:sp>
      <p:sp>
        <p:nvSpPr>
          <p:cNvPr id="34" name="TextBox 33"/>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731520"/>
            <a:ext cx="10820095" cy="731520"/>
          </a:xfrm>
          <a:prstGeom prst="rect">
            <a:avLst/>
          </a:prstGeom>
          <a:noFill/>
        </p:spPr>
        <p:txBody>
          <a:bodyPr wrap="square"/>
          <a:lstStyle/>
          <a:p>
            <a:pPr algn="ctr">
              <a:spcBef>
                <a:spcPts val="0"/>
              </a:spcBef>
              <a:spcAft>
                <a:spcPts val="0"/>
              </a:spcAft>
            </a:pPr>
            <a:r>
              <a:rPr sz="4000" b="1">
                <a:solidFill>
                  <a:srgbClr val="EBEBEB"/>
                </a:solidFill>
                <a:latin typeface="JetBrains Mono"/>
              </a:rPr>
              <a:t>Deterministic governance at file save</a:t>
            </a:r>
          </a:p>
        </p:txBody>
      </p:sp>
      <p:sp>
        <p:nvSpPr>
          <p:cNvPr id="3" name="TextBox 2"/>
          <p:cNvSpPr txBox="1"/>
          <p:nvPr/>
        </p:nvSpPr>
        <p:spPr>
          <a:xfrm>
            <a:off x="685800" y="1463040"/>
            <a:ext cx="10820095" cy="457200"/>
          </a:xfrm>
          <a:prstGeom prst="rect">
            <a:avLst/>
          </a:prstGeom>
          <a:noFill/>
        </p:spPr>
        <p:txBody>
          <a:bodyPr wrap="square"/>
          <a:lstStyle/>
          <a:p>
            <a:pPr algn="ctr">
              <a:spcBef>
                <a:spcPts val="0"/>
              </a:spcBef>
              <a:spcAft>
                <a:spcPts val="0"/>
              </a:spcAft>
            </a:pPr>
            <a:r>
              <a:rPr sz="1600" b="0">
                <a:solidFill>
                  <a:srgbClr val="85858A"/>
                </a:solidFill>
                <a:latin typeface="Inter"/>
              </a:rPr>
              <a:t>Pre-commit — the only governance tool at this position in the workflow</a:t>
            </a:r>
          </a:p>
        </p:txBody>
      </p:sp>
      <p:sp>
        <p:nvSpPr>
          <p:cNvPr id="4" name="Rectangle 3"/>
          <p:cNvSpPr/>
          <p:nvPr/>
        </p:nvSpPr>
        <p:spPr>
          <a:xfrm>
            <a:off x="2286000" y="2286000"/>
            <a:ext cx="7589520" cy="34747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2651760"/>
            <a:ext cx="731520" cy="365760"/>
          </a:xfrm>
          <a:prstGeom prst="rect">
            <a:avLst/>
          </a:prstGeom>
          <a:noFill/>
        </p:spPr>
        <p:txBody>
          <a:bodyPr wrap="square"/>
          <a:lstStyle/>
          <a:p>
            <a:pPr algn="l">
              <a:spcBef>
                <a:spcPts val="0"/>
              </a:spcBef>
              <a:spcAft>
                <a:spcPts val="0"/>
              </a:spcAft>
            </a:pPr>
            <a:r>
              <a:rPr sz="1800" b="1">
                <a:solidFill>
                  <a:srgbClr val="CC5500"/>
                </a:solidFill>
                <a:latin typeface="JetBrains Mono"/>
              </a:rPr>
              <a:t>[ = ]</a:t>
            </a:r>
          </a:p>
        </p:txBody>
      </p:sp>
      <p:sp>
        <p:nvSpPr>
          <p:cNvPr id="6" name="TextBox 5"/>
          <p:cNvSpPr txBox="1"/>
          <p:nvPr/>
        </p:nvSpPr>
        <p:spPr>
          <a:xfrm>
            <a:off x="3474720" y="2651760"/>
            <a:ext cx="5943600" cy="365760"/>
          </a:xfrm>
          <a:prstGeom prst="rect">
            <a:avLst/>
          </a:prstGeom>
          <a:noFill/>
        </p:spPr>
        <p:txBody>
          <a:bodyPr wrap="square"/>
          <a:lstStyle/>
          <a:p>
            <a:pPr algn="l">
              <a:spcBef>
                <a:spcPts val="0"/>
              </a:spcBef>
              <a:spcAft>
                <a:spcPts val="0"/>
              </a:spcAft>
            </a:pPr>
            <a:r>
              <a:rPr sz="1800" b="0">
                <a:solidFill>
                  <a:srgbClr val="EBEBEB"/>
                </a:solidFill>
                <a:latin typeface="Inter"/>
              </a:rPr>
              <a:t>  Policy enforcement at file save — not after commit</a:t>
            </a:r>
          </a:p>
        </p:txBody>
      </p:sp>
      <p:sp>
        <p:nvSpPr>
          <p:cNvPr id="7" name="TextBox 6"/>
          <p:cNvSpPr txBox="1"/>
          <p:nvPr/>
        </p:nvSpPr>
        <p:spPr>
          <a:xfrm>
            <a:off x="2743200" y="3218688"/>
            <a:ext cx="731520" cy="365760"/>
          </a:xfrm>
          <a:prstGeom prst="rect">
            <a:avLst/>
          </a:prstGeom>
          <a:noFill/>
        </p:spPr>
        <p:txBody>
          <a:bodyPr wrap="square"/>
          <a:lstStyle/>
          <a:p>
            <a:pPr algn="l">
              <a:spcBef>
                <a:spcPts val="0"/>
              </a:spcBef>
              <a:spcAft>
                <a:spcPts val="0"/>
              </a:spcAft>
            </a:pPr>
            <a:r>
              <a:rPr sz="1800" b="1">
                <a:solidFill>
                  <a:srgbClr val="CC5500"/>
                </a:solidFill>
                <a:latin typeface="JetBrains Mono"/>
              </a:rPr>
              <a:t>[ = ]</a:t>
            </a:r>
          </a:p>
        </p:txBody>
      </p:sp>
      <p:sp>
        <p:nvSpPr>
          <p:cNvPr id="8" name="TextBox 7"/>
          <p:cNvSpPr txBox="1"/>
          <p:nvPr/>
        </p:nvSpPr>
        <p:spPr>
          <a:xfrm>
            <a:off x="3474720" y="3218688"/>
            <a:ext cx="5943600" cy="365760"/>
          </a:xfrm>
          <a:prstGeom prst="rect">
            <a:avLst/>
          </a:prstGeom>
          <a:noFill/>
        </p:spPr>
        <p:txBody>
          <a:bodyPr wrap="square"/>
          <a:lstStyle/>
          <a:p>
            <a:pPr algn="l">
              <a:spcBef>
                <a:spcPts val="0"/>
              </a:spcBef>
              <a:spcAft>
                <a:spcPts val="0"/>
              </a:spcAft>
            </a:pPr>
            <a:r>
              <a:rPr sz="1800" b="0">
                <a:solidFill>
                  <a:srgbClr val="EBEBEB"/>
                </a:solidFill>
                <a:latin typeface="Inter"/>
              </a:rPr>
              <a:t>  Deterministic analysis — not AI reviewing AI</a:t>
            </a:r>
          </a:p>
        </p:txBody>
      </p:sp>
      <p:sp>
        <p:nvSpPr>
          <p:cNvPr id="9" name="TextBox 8"/>
          <p:cNvSpPr txBox="1"/>
          <p:nvPr/>
        </p:nvSpPr>
        <p:spPr>
          <a:xfrm>
            <a:off x="2743200" y="3785616"/>
            <a:ext cx="731520" cy="365760"/>
          </a:xfrm>
          <a:prstGeom prst="rect">
            <a:avLst/>
          </a:prstGeom>
          <a:noFill/>
        </p:spPr>
        <p:txBody>
          <a:bodyPr wrap="square"/>
          <a:lstStyle/>
          <a:p>
            <a:pPr algn="l">
              <a:spcBef>
                <a:spcPts val="0"/>
              </a:spcBef>
              <a:spcAft>
                <a:spcPts val="0"/>
              </a:spcAft>
            </a:pPr>
            <a:r>
              <a:rPr sz="1800" b="1">
                <a:solidFill>
                  <a:srgbClr val="CC5500"/>
                </a:solidFill>
                <a:latin typeface="JetBrains Mono"/>
              </a:rPr>
              <a:t>[ = ]</a:t>
            </a:r>
          </a:p>
        </p:txBody>
      </p:sp>
      <p:sp>
        <p:nvSpPr>
          <p:cNvPr id="10" name="TextBox 9"/>
          <p:cNvSpPr txBox="1"/>
          <p:nvPr/>
        </p:nvSpPr>
        <p:spPr>
          <a:xfrm>
            <a:off x="3474720" y="3785616"/>
            <a:ext cx="5943600" cy="365760"/>
          </a:xfrm>
          <a:prstGeom prst="rect">
            <a:avLst/>
          </a:prstGeom>
          <a:noFill/>
        </p:spPr>
        <p:txBody>
          <a:bodyPr wrap="square"/>
          <a:lstStyle/>
          <a:p>
            <a:pPr algn="l">
              <a:spcBef>
                <a:spcPts val="0"/>
              </a:spcBef>
              <a:spcAft>
                <a:spcPts val="0"/>
              </a:spcAft>
            </a:pPr>
            <a:r>
              <a:rPr sz="1800" b="0">
                <a:solidFill>
                  <a:srgbClr val="EBEBEB"/>
                </a:solidFill>
                <a:latin typeface="Inter"/>
              </a:rPr>
              <a:t>  Line-level authorship: human / AI / mixed / unknown</a:t>
            </a:r>
          </a:p>
        </p:txBody>
      </p:sp>
      <p:sp>
        <p:nvSpPr>
          <p:cNvPr id="11" name="TextBox 10"/>
          <p:cNvSpPr txBox="1"/>
          <p:nvPr/>
        </p:nvSpPr>
        <p:spPr>
          <a:xfrm>
            <a:off x="2743200" y="4352544"/>
            <a:ext cx="731520" cy="365760"/>
          </a:xfrm>
          <a:prstGeom prst="rect">
            <a:avLst/>
          </a:prstGeom>
          <a:noFill/>
        </p:spPr>
        <p:txBody>
          <a:bodyPr wrap="square"/>
          <a:lstStyle/>
          <a:p>
            <a:pPr algn="l">
              <a:spcBef>
                <a:spcPts val="0"/>
              </a:spcBef>
              <a:spcAft>
                <a:spcPts val="0"/>
              </a:spcAft>
            </a:pPr>
            <a:r>
              <a:rPr sz="1800" b="1">
                <a:solidFill>
                  <a:srgbClr val="CC5500"/>
                </a:solidFill>
                <a:latin typeface="JetBrains Mono"/>
              </a:rPr>
              <a:t>[ = ]</a:t>
            </a:r>
          </a:p>
        </p:txBody>
      </p:sp>
      <p:sp>
        <p:nvSpPr>
          <p:cNvPr id="12" name="TextBox 11"/>
          <p:cNvSpPr txBox="1"/>
          <p:nvPr/>
        </p:nvSpPr>
        <p:spPr>
          <a:xfrm>
            <a:off x="3474720" y="4352544"/>
            <a:ext cx="5943600" cy="365760"/>
          </a:xfrm>
          <a:prstGeom prst="rect">
            <a:avLst/>
          </a:prstGeom>
          <a:noFill/>
        </p:spPr>
        <p:txBody>
          <a:bodyPr wrap="square"/>
          <a:lstStyle/>
          <a:p>
            <a:pPr algn="l">
              <a:spcBef>
                <a:spcPts val="0"/>
              </a:spcBef>
              <a:spcAft>
                <a:spcPts val="0"/>
              </a:spcAft>
            </a:pPr>
            <a:r>
              <a:rPr sz="1800" b="0">
                <a:solidFill>
                  <a:srgbClr val="EBEBEB"/>
                </a:solidFill>
                <a:latin typeface="Inter"/>
              </a:rPr>
              <a:t>  Architecture drift detection via semantic graph</a:t>
            </a:r>
          </a:p>
        </p:txBody>
      </p:sp>
      <p:sp>
        <p:nvSpPr>
          <p:cNvPr id="13" name="TextBox 12"/>
          <p:cNvSpPr txBox="1"/>
          <p:nvPr/>
        </p:nvSpPr>
        <p:spPr>
          <a:xfrm>
            <a:off x="2743200" y="4919472"/>
            <a:ext cx="731520" cy="365760"/>
          </a:xfrm>
          <a:prstGeom prst="rect">
            <a:avLst/>
          </a:prstGeom>
          <a:noFill/>
        </p:spPr>
        <p:txBody>
          <a:bodyPr wrap="square"/>
          <a:lstStyle/>
          <a:p>
            <a:pPr algn="l">
              <a:spcBef>
                <a:spcPts val="0"/>
              </a:spcBef>
              <a:spcAft>
                <a:spcPts val="0"/>
              </a:spcAft>
            </a:pPr>
            <a:r>
              <a:rPr sz="1800" b="1">
                <a:solidFill>
                  <a:srgbClr val="CC5500"/>
                </a:solidFill>
                <a:latin typeface="JetBrains Mono"/>
              </a:rPr>
              <a:t>[ = ]</a:t>
            </a:r>
          </a:p>
        </p:txBody>
      </p:sp>
      <p:sp>
        <p:nvSpPr>
          <p:cNvPr id="14" name="TextBox 13"/>
          <p:cNvSpPr txBox="1"/>
          <p:nvPr/>
        </p:nvSpPr>
        <p:spPr>
          <a:xfrm>
            <a:off x="3474720" y="4919472"/>
            <a:ext cx="5943600" cy="365760"/>
          </a:xfrm>
          <a:prstGeom prst="rect">
            <a:avLst/>
          </a:prstGeom>
          <a:noFill/>
        </p:spPr>
        <p:txBody>
          <a:bodyPr wrap="square"/>
          <a:lstStyle/>
          <a:p>
            <a:pPr algn="l">
              <a:spcBef>
                <a:spcPts val="0"/>
              </a:spcBef>
              <a:spcAft>
                <a:spcPts val="0"/>
              </a:spcAft>
            </a:pPr>
            <a:r>
              <a:rPr sz="1800" b="0">
                <a:solidFill>
                  <a:srgbClr val="EBEBEB"/>
                </a:solidFill>
                <a:latin typeface="Inter"/>
              </a:rPr>
              <a:t>  Policy-as-code (OPA/Rego) — your team controls the rules</a:t>
            </a:r>
          </a:p>
        </p:txBody>
      </p:sp>
      <p:sp>
        <p:nvSpPr>
          <p:cNvPr id="15" name="TextBox 14"/>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lstStyle/>
          <a:p>
            <a:pPr algn="ctr">
              <a:spcBef>
                <a:spcPts val="0"/>
              </a:spcBef>
              <a:spcAft>
                <a:spcPts val="0"/>
              </a:spcAft>
            </a:pPr>
            <a:r>
              <a:rPr sz="3600" b="1">
                <a:solidFill>
                  <a:srgbClr val="EBEBEB"/>
                </a:solidFill>
                <a:latin typeface="JetBrains Mono"/>
              </a:rPr>
              <a:t>File save to governance event in milliseconds</a:t>
            </a:r>
          </a:p>
        </p:txBody>
      </p:sp>
      <p:sp>
        <p:nvSpPr>
          <p:cNvPr id="3" name="Rectangle 2"/>
          <p:cNvSpPr/>
          <p:nvPr/>
        </p:nvSpPr>
        <p:spPr>
          <a:xfrm>
            <a:off x="883767" y="1463040"/>
            <a:ext cx="1828800" cy="128016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83767" y="1463040"/>
            <a:ext cx="50800" cy="128016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0927" y="1600200"/>
            <a:ext cx="1554480" cy="365760"/>
          </a:xfrm>
          <a:prstGeom prst="rect">
            <a:avLst/>
          </a:prstGeom>
          <a:noFill/>
        </p:spPr>
        <p:txBody>
          <a:bodyPr wrap="square"/>
          <a:lstStyle/>
          <a:p>
            <a:pPr algn="ctr">
              <a:spcBef>
                <a:spcPts val="0"/>
              </a:spcBef>
              <a:spcAft>
                <a:spcPts val="0"/>
              </a:spcAft>
            </a:pPr>
            <a:r>
              <a:rPr sz="1600" b="1">
                <a:solidFill>
                  <a:srgbClr val="EBEBEB"/>
                </a:solidFill>
                <a:latin typeface="JetBrains Mono"/>
              </a:rPr>
              <a:t>File Save</a:t>
            </a:r>
          </a:p>
        </p:txBody>
      </p:sp>
      <p:sp>
        <p:nvSpPr>
          <p:cNvPr id="6" name="TextBox 5"/>
          <p:cNvSpPr txBox="1"/>
          <p:nvPr/>
        </p:nvSpPr>
        <p:spPr>
          <a:xfrm>
            <a:off x="975207" y="1965960"/>
            <a:ext cx="1645920" cy="640080"/>
          </a:xfrm>
          <a:prstGeom prst="rect">
            <a:avLst/>
          </a:prstGeom>
          <a:noFill/>
        </p:spPr>
        <p:txBody>
          <a:bodyPr wrap="square"/>
          <a:lstStyle/>
          <a:p>
            <a:pPr algn="ctr">
              <a:spcBef>
                <a:spcPts val="0"/>
              </a:spcBef>
              <a:spcAft>
                <a:spcPts val="0"/>
              </a:spcAft>
            </a:pPr>
            <a:r>
              <a:rPr sz="1200" b="0">
                <a:solidFill>
                  <a:srgbClr val="85858A"/>
                </a:solidFill>
                <a:latin typeface="Inter"/>
              </a:rPr>
              <a:t>Developer saves file</a:t>
            </a:r>
          </a:p>
        </p:txBody>
      </p:sp>
      <p:cxnSp>
        <p:nvCxnSpPr>
          <p:cNvPr id="7" name="Connector 6"/>
          <p:cNvCxnSpPr/>
          <p:nvPr/>
        </p:nvCxnSpPr>
        <p:spPr>
          <a:xfrm>
            <a:off x="2730855" y="2103120"/>
            <a:ext cx="283464" cy="0"/>
          </a:xfrm>
          <a:prstGeom prst="line">
            <a:avLst/>
          </a:prstGeom>
          <a:ln w="25400">
            <a:solidFill>
              <a:srgbClr val="85858A"/>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5400000">
            <a:off x="2895447" y="2048256"/>
            <a:ext cx="109728" cy="109728"/>
          </a:xfrm>
          <a:prstGeom prst="triangl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32607" y="1463040"/>
            <a:ext cx="1828800" cy="128016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32607" y="1463040"/>
            <a:ext cx="50800" cy="128016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9767" y="1600200"/>
            <a:ext cx="1554480" cy="365760"/>
          </a:xfrm>
          <a:prstGeom prst="rect">
            <a:avLst/>
          </a:prstGeom>
          <a:noFill/>
        </p:spPr>
        <p:txBody>
          <a:bodyPr wrap="square"/>
          <a:lstStyle/>
          <a:p>
            <a:pPr algn="ctr">
              <a:spcBef>
                <a:spcPts val="0"/>
              </a:spcBef>
              <a:spcAft>
                <a:spcPts val="0"/>
              </a:spcAft>
            </a:pPr>
            <a:r>
              <a:rPr sz="1600" b="1">
                <a:solidFill>
                  <a:srgbClr val="EBEBEB"/>
                </a:solidFill>
                <a:latin typeface="JetBrains Mono"/>
              </a:rPr>
              <a:t>Parse</a:t>
            </a:r>
          </a:p>
        </p:txBody>
      </p:sp>
      <p:sp>
        <p:nvSpPr>
          <p:cNvPr id="12" name="TextBox 11"/>
          <p:cNvSpPr txBox="1"/>
          <p:nvPr/>
        </p:nvSpPr>
        <p:spPr>
          <a:xfrm>
            <a:off x="3124047" y="1965960"/>
            <a:ext cx="1645920" cy="640080"/>
          </a:xfrm>
          <a:prstGeom prst="rect">
            <a:avLst/>
          </a:prstGeom>
          <a:noFill/>
        </p:spPr>
        <p:txBody>
          <a:bodyPr wrap="square"/>
          <a:lstStyle/>
          <a:p>
            <a:pPr algn="ctr">
              <a:spcBef>
                <a:spcPts val="0"/>
              </a:spcBef>
              <a:spcAft>
                <a:spcPts val="0"/>
              </a:spcAft>
            </a:pPr>
            <a:r>
              <a:rPr sz="1200" b="0">
                <a:solidFill>
                  <a:srgbClr val="85858A"/>
                </a:solidFill>
                <a:latin typeface="Inter"/>
              </a:rPr>
              <a:t>Tree-sitter
incremental (Rust)</a:t>
            </a:r>
          </a:p>
        </p:txBody>
      </p:sp>
      <p:cxnSp>
        <p:nvCxnSpPr>
          <p:cNvPr id="13" name="Connector 12"/>
          <p:cNvCxnSpPr/>
          <p:nvPr/>
        </p:nvCxnSpPr>
        <p:spPr>
          <a:xfrm>
            <a:off x="4879695" y="2103120"/>
            <a:ext cx="283464" cy="0"/>
          </a:xfrm>
          <a:prstGeom prst="line">
            <a:avLst/>
          </a:prstGeom>
          <a:ln w="25400">
            <a:solidFill>
              <a:srgbClr val="85858A"/>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5044287" y="2048256"/>
            <a:ext cx="109728" cy="109728"/>
          </a:xfrm>
          <a:prstGeom prst="triangl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81447" y="1463040"/>
            <a:ext cx="1828800" cy="128016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81447" y="1463040"/>
            <a:ext cx="50800" cy="128016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8607" y="1600200"/>
            <a:ext cx="1554480" cy="365760"/>
          </a:xfrm>
          <a:prstGeom prst="rect">
            <a:avLst/>
          </a:prstGeom>
          <a:noFill/>
        </p:spPr>
        <p:txBody>
          <a:bodyPr wrap="square"/>
          <a:lstStyle/>
          <a:p>
            <a:pPr algn="ctr">
              <a:spcBef>
                <a:spcPts val="0"/>
              </a:spcBef>
              <a:spcAft>
                <a:spcPts val="0"/>
              </a:spcAft>
            </a:pPr>
            <a:r>
              <a:rPr sz="1600" b="1">
                <a:solidFill>
                  <a:srgbClr val="EBEBEB"/>
                </a:solidFill>
                <a:latin typeface="JetBrains Mono"/>
              </a:rPr>
              <a:t>Attribute</a:t>
            </a:r>
          </a:p>
        </p:txBody>
      </p:sp>
      <p:sp>
        <p:nvSpPr>
          <p:cNvPr id="18" name="TextBox 17"/>
          <p:cNvSpPr txBox="1"/>
          <p:nvPr/>
        </p:nvSpPr>
        <p:spPr>
          <a:xfrm>
            <a:off x="5272887" y="1965960"/>
            <a:ext cx="1645920" cy="640080"/>
          </a:xfrm>
          <a:prstGeom prst="rect">
            <a:avLst/>
          </a:prstGeom>
          <a:noFill/>
        </p:spPr>
        <p:txBody>
          <a:bodyPr wrap="square"/>
          <a:lstStyle/>
          <a:p>
            <a:pPr algn="ctr">
              <a:spcBef>
                <a:spcPts val="0"/>
              </a:spcBef>
              <a:spcAft>
                <a:spcPts val="0"/>
              </a:spcAft>
            </a:pPr>
            <a:r>
              <a:rPr sz="1200" b="0">
                <a:solidFill>
                  <a:srgbClr val="85858A"/>
                </a:solidFill>
                <a:latin typeface="Inter"/>
              </a:rPr>
              <a:t>Line-level
authorship</a:t>
            </a:r>
          </a:p>
        </p:txBody>
      </p:sp>
      <p:cxnSp>
        <p:nvCxnSpPr>
          <p:cNvPr id="19" name="Connector 18"/>
          <p:cNvCxnSpPr/>
          <p:nvPr/>
        </p:nvCxnSpPr>
        <p:spPr>
          <a:xfrm>
            <a:off x="7028535" y="2103120"/>
            <a:ext cx="283464" cy="0"/>
          </a:xfrm>
          <a:prstGeom prst="line">
            <a:avLst/>
          </a:prstGeom>
          <a:ln w="25400">
            <a:solidFill>
              <a:srgbClr val="85858A"/>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7193127" y="2048256"/>
            <a:ext cx="109728" cy="109728"/>
          </a:xfrm>
          <a:prstGeom prst="triangl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30287" y="1463040"/>
            <a:ext cx="1828800" cy="128016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30287" y="1463040"/>
            <a:ext cx="50800" cy="128016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7447" y="1600200"/>
            <a:ext cx="1554480" cy="365760"/>
          </a:xfrm>
          <a:prstGeom prst="rect">
            <a:avLst/>
          </a:prstGeom>
          <a:noFill/>
        </p:spPr>
        <p:txBody>
          <a:bodyPr wrap="square"/>
          <a:lstStyle/>
          <a:p>
            <a:pPr algn="ctr">
              <a:spcBef>
                <a:spcPts val="0"/>
              </a:spcBef>
              <a:spcAft>
                <a:spcPts val="0"/>
              </a:spcAft>
            </a:pPr>
            <a:r>
              <a:rPr sz="1600" b="1">
                <a:solidFill>
                  <a:srgbClr val="EBEBEB"/>
                </a:solidFill>
                <a:latin typeface="JetBrains Mono"/>
              </a:rPr>
              <a:t>Evaluate</a:t>
            </a:r>
          </a:p>
        </p:txBody>
      </p:sp>
      <p:sp>
        <p:nvSpPr>
          <p:cNvPr id="24" name="TextBox 23"/>
          <p:cNvSpPr txBox="1"/>
          <p:nvPr/>
        </p:nvSpPr>
        <p:spPr>
          <a:xfrm>
            <a:off x="7421727" y="1965960"/>
            <a:ext cx="1645920" cy="640080"/>
          </a:xfrm>
          <a:prstGeom prst="rect">
            <a:avLst/>
          </a:prstGeom>
          <a:noFill/>
        </p:spPr>
        <p:txBody>
          <a:bodyPr wrap="square"/>
          <a:lstStyle/>
          <a:p>
            <a:pPr algn="ctr">
              <a:spcBef>
                <a:spcPts val="0"/>
              </a:spcBef>
              <a:spcAft>
                <a:spcPts val="0"/>
              </a:spcAft>
            </a:pPr>
            <a:r>
              <a:rPr sz="1200" b="0">
                <a:solidFill>
                  <a:srgbClr val="85858A"/>
                </a:solidFill>
                <a:latin typeface="Inter"/>
              </a:rPr>
              <a:t>OPA/Rego
policy check</a:t>
            </a:r>
          </a:p>
        </p:txBody>
      </p:sp>
      <p:cxnSp>
        <p:nvCxnSpPr>
          <p:cNvPr id="25" name="Connector 24"/>
          <p:cNvCxnSpPr/>
          <p:nvPr/>
        </p:nvCxnSpPr>
        <p:spPr>
          <a:xfrm>
            <a:off x="9177375" y="2103120"/>
            <a:ext cx="283464" cy="0"/>
          </a:xfrm>
          <a:prstGeom prst="line">
            <a:avLst/>
          </a:prstGeom>
          <a:ln w="25400">
            <a:solidFill>
              <a:srgbClr val="85858A"/>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9341967" y="2048256"/>
            <a:ext cx="109728" cy="109728"/>
          </a:xfrm>
          <a:prstGeom prst="triangl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79127" y="1463040"/>
            <a:ext cx="1828800" cy="128016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479127" y="1463040"/>
            <a:ext cx="50800" cy="128016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16287" y="1600200"/>
            <a:ext cx="1554480" cy="365760"/>
          </a:xfrm>
          <a:prstGeom prst="rect">
            <a:avLst/>
          </a:prstGeom>
          <a:noFill/>
        </p:spPr>
        <p:txBody>
          <a:bodyPr wrap="square"/>
          <a:lstStyle/>
          <a:p>
            <a:pPr algn="ctr">
              <a:spcBef>
                <a:spcPts val="0"/>
              </a:spcBef>
              <a:spcAft>
                <a:spcPts val="0"/>
              </a:spcAft>
            </a:pPr>
            <a:r>
              <a:rPr sz="1600" b="1">
                <a:solidFill>
                  <a:srgbClr val="EBEBEB"/>
                </a:solidFill>
                <a:latin typeface="JetBrains Mono"/>
              </a:rPr>
              <a:t>Govern</a:t>
            </a:r>
          </a:p>
        </p:txBody>
      </p:sp>
      <p:sp>
        <p:nvSpPr>
          <p:cNvPr id="30" name="TextBox 29"/>
          <p:cNvSpPr txBox="1"/>
          <p:nvPr/>
        </p:nvSpPr>
        <p:spPr>
          <a:xfrm>
            <a:off x="9570567" y="1965960"/>
            <a:ext cx="1645920" cy="640080"/>
          </a:xfrm>
          <a:prstGeom prst="rect">
            <a:avLst/>
          </a:prstGeom>
          <a:noFill/>
        </p:spPr>
        <p:txBody>
          <a:bodyPr wrap="square"/>
          <a:lstStyle/>
          <a:p>
            <a:pPr algn="ctr">
              <a:spcBef>
                <a:spcPts val="0"/>
              </a:spcBef>
              <a:spcAft>
                <a:spcPts val="0"/>
              </a:spcAft>
            </a:pPr>
            <a:r>
              <a:rPr sz="1200" b="0">
                <a:solidFill>
                  <a:srgbClr val="85858A"/>
                </a:solidFill>
                <a:latin typeface="Inter"/>
              </a:rPr>
              <a:t>Emit governance
event</a:t>
            </a:r>
          </a:p>
        </p:txBody>
      </p:sp>
      <p:sp>
        <p:nvSpPr>
          <p:cNvPr id="31" name="TextBox 30"/>
          <p:cNvSpPr txBox="1"/>
          <p:nvPr/>
        </p:nvSpPr>
        <p:spPr>
          <a:xfrm>
            <a:off x="685800" y="3200400"/>
            <a:ext cx="10820095" cy="365760"/>
          </a:xfrm>
          <a:prstGeom prst="rect">
            <a:avLst/>
          </a:prstGeom>
          <a:noFill/>
        </p:spPr>
        <p:txBody>
          <a:bodyPr wrap="square"/>
          <a:lstStyle/>
          <a:p>
            <a:pPr algn="ctr">
              <a:spcBef>
                <a:spcPts val="0"/>
              </a:spcBef>
              <a:spcAft>
                <a:spcPts val="0"/>
              </a:spcAft>
            </a:pPr>
            <a:r>
              <a:rPr sz="1400" b="0">
                <a:solidFill>
                  <a:srgbClr val="85858A"/>
                </a:solidFill>
                <a:latin typeface="JetBrains Mono"/>
              </a:rPr>
              <a:t>Governance Output States</a:t>
            </a:r>
          </a:p>
        </p:txBody>
      </p:sp>
      <p:sp>
        <p:nvSpPr>
          <p:cNvPr id="32" name="Rectangle 31"/>
          <p:cNvSpPr/>
          <p:nvPr/>
        </p:nvSpPr>
        <p:spPr>
          <a:xfrm>
            <a:off x="2286000" y="3657600"/>
            <a:ext cx="7589520" cy="4114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286000" y="3657600"/>
            <a:ext cx="50800" cy="411480"/>
          </a:xfrm>
          <a:prstGeom prst="rect">
            <a:avLst/>
          </a:prstGeom>
          <a:solidFill>
            <a:srgbClr val="2E8B57"/>
          </a:solidFill>
          <a:ln>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68880" y="3703320"/>
            <a:ext cx="914400" cy="320040"/>
          </a:xfrm>
          <a:prstGeom prst="rect">
            <a:avLst/>
          </a:prstGeom>
          <a:noFill/>
        </p:spPr>
        <p:txBody>
          <a:bodyPr wrap="square"/>
          <a:lstStyle/>
          <a:p>
            <a:pPr algn="l">
              <a:spcBef>
                <a:spcPts val="0"/>
              </a:spcBef>
              <a:spcAft>
                <a:spcPts val="0"/>
              </a:spcAft>
            </a:pPr>
            <a:r>
              <a:rPr sz="1400" b="1">
                <a:solidFill>
                  <a:srgbClr val="2E8B57"/>
                </a:solidFill>
                <a:latin typeface="JetBrains Mono"/>
              </a:rPr>
              <a:t>PASS</a:t>
            </a:r>
          </a:p>
        </p:txBody>
      </p:sp>
      <p:sp>
        <p:nvSpPr>
          <p:cNvPr id="35" name="TextBox 34"/>
          <p:cNvSpPr txBox="1"/>
          <p:nvPr/>
        </p:nvSpPr>
        <p:spPr>
          <a:xfrm>
            <a:off x="3474720" y="3703320"/>
            <a:ext cx="5943600" cy="320040"/>
          </a:xfrm>
          <a:prstGeom prst="rect">
            <a:avLst/>
          </a:prstGeom>
          <a:noFill/>
        </p:spPr>
        <p:txBody>
          <a:bodyPr wrap="square"/>
          <a:lstStyle/>
          <a:p>
            <a:pPr algn="l">
              <a:spcBef>
                <a:spcPts val="0"/>
              </a:spcBef>
              <a:spcAft>
                <a:spcPts val="0"/>
              </a:spcAft>
            </a:pPr>
            <a:r>
              <a:rPr sz="1400" b="0">
                <a:solidFill>
                  <a:srgbClr val="EBEBEB"/>
                </a:solidFill>
                <a:latin typeface="Inter"/>
              </a:rPr>
              <a:t>Policy met. Architecture stable.</a:t>
            </a:r>
          </a:p>
        </p:txBody>
      </p:sp>
      <p:sp>
        <p:nvSpPr>
          <p:cNvPr id="36" name="Rectangle 35"/>
          <p:cNvSpPr/>
          <p:nvPr/>
        </p:nvSpPr>
        <p:spPr>
          <a:xfrm>
            <a:off x="2286000" y="4160520"/>
            <a:ext cx="7589520" cy="4114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286000" y="4160520"/>
            <a:ext cx="50800" cy="411480"/>
          </a:xfrm>
          <a:prstGeom prst="rect">
            <a:avLst/>
          </a:prstGeom>
          <a:solidFill>
            <a:srgbClr val="D08C38"/>
          </a:solidFill>
          <a:ln>
            <a:solidFill>
              <a:srgbClr val="D08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68880" y="4206240"/>
            <a:ext cx="914400" cy="320040"/>
          </a:xfrm>
          <a:prstGeom prst="rect">
            <a:avLst/>
          </a:prstGeom>
          <a:noFill/>
        </p:spPr>
        <p:txBody>
          <a:bodyPr wrap="square"/>
          <a:lstStyle/>
          <a:p>
            <a:pPr algn="l">
              <a:spcBef>
                <a:spcPts val="0"/>
              </a:spcBef>
              <a:spcAft>
                <a:spcPts val="0"/>
              </a:spcAft>
            </a:pPr>
            <a:r>
              <a:rPr sz="1400" b="1">
                <a:solidFill>
                  <a:srgbClr val="D08C38"/>
                </a:solidFill>
                <a:latin typeface="JetBrains Mono"/>
              </a:rPr>
              <a:t>WARN</a:t>
            </a:r>
          </a:p>
        </p:txBody>
      </p:sp>
      <p:sp>
        <p:nvSpPr>
          <p:cNvPr id="39" name="TextBox 38"/>
          <p:cNvSpPr txBox="1"/>
          <p:nvPr/>
        </p:nvSpPr>
        <p:spPr>
          <a:xfrm>
            <a:off x="3474720" y="4206240"/>
            <a:ext cx="5943600" cy="320040"/>
          </a:xfrm>
          <a:prstGeom prst="rect">
            <a:avLst/>
          </a:prstGeom>
          <a:noFill/>
        </p:spPr>
        <p:txBody>
          <a:bodyPr wrap="square"/>
          <a:lstStyle/>
          <a:p>
            <a:pPr algn="l">
              <a:spcBef>
                <a:spcPts val="0"/>
              </a:spcBef>
              <a:spcAft>
                <a:spcPts val="0"/>
              </a:spcAft>
            </a:pPr>
            <a:r>
              <a:rPr sz="1400" b="0">
                <a:solidFill>
                  <a:srgbClr val="EBEBEB"/>
                </a:solidFill>
                <a:latin typeface="Inter"/>
              </a:rPr>
              <a:t>Boundary stress increasing. Review.</a:t>
            </a:r>
          </a:p>
        </p:txBody>
      </p:sp>
      <p:sp>
        <p:nvSpPr>
          <p:cNvPr id="40" name="Rectangle 39"/>
          <p:cNvSpPr/>
          <p:nvPr/>
        </p:nvSpPr>
        <p:spPr>
          <a:xfrm>
            <a:off x="2286000" y="4663440"/>
            <a:ext cx="7589520" cy="4114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286000" y="4663440"/>
            <a:ext cx="50800" cy="411480"/>
          </a:xfrm>
          <a:prstGeom prst="rect">
            <a:avLst/>
          </a:prstGeom>
          <a:solidFill>
            <a:srgbClr val="C94A4A"/>
          </a:solidFill>
          <a:ln>
            <a:solidFill>
              <a:srgbClr val="C9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68880" y="4709160"/>
            <a:ext cx="914400" cy="320040"/>
          </a:xfrm>
          <a:prstGeom prst="rect">
            <a:avLst/>
          </a:prstGeom>
          <a:noFill/>
        </p:spPr>
        <p:txBody>
          <a:bodyPr wrap="square"/>
          <a:lstStyle/>
          <a:p>
            <a:pPr algn="l">
              <a:spcBef>
                <a:spcPts val="0"/>
              </a:spcBef>
              <a:spcAft>
                <a:spcPts val="0"/>
              </a:spcAft>
            </a:pPr>
            <a:r>
              <a:rPr sz="1400" b="1">
                <a:solidFill>
                  <a:srgbClr val="C94A4A"/>
                </a:solidFill>
                <a:latin typeface="JetBrains Mono"/>
              </a:rPr>
              <a:t>BLOCK</a:t>
            </a:r>
          </a:p>
        </p:txBody>
      </p:sp>
      <p:sp>
        <p:nvSpPr>
          <p:cNvPr id="43" name="TextBox 42"/>
          <p:cNvSpPr txBox="1"/>
          <p:nvPr/>
        </p:nvSpPr>
        <p:spPr>
          <a:xfrm>
            <a:off x="3474720" y="4709160"/>
            <a:ext cx="5943600" cy="320040"/>
          </a:xfrm>
          <a:prstGeom prst="rect">
            <a:avLst/>
          </a:prstGeom>
          <a:noFill/>
        </p:spPr>
        <p:txBody>
          <a:bodyPr wrap="square"/>
          <a:lstStyle/>
          <a:p>
            <a:pPr algn="l">
              <a:spcBef>
                <a:spcPts val="0"/>
              </a:spcBef>
              <a:spcAft>
                <a:spcPts val="0"/>
              </a:spcAft>
            </a:pPr>
            <a:r>
              <a:rPr sz="1400" b="0">
                <a:solidFill>
                  <a:srgbClr val="EBEBEB"/>
                </a:solidFill>
                <a:latin typeface="Inter"/>
              </a:rPr>
              <a:t>Trust invariant violated. Fix required.</a:t>
            </a:r>
          </a:p>
        </p:txBody>
      </p:sp>
      <p:sp>
        <p:nvSpPr>
          <p:cNvPr id="44" name="TextBox 43"/>
          <p:cNvSpPr txBox="1"/>
          <p:nvPr/>
        </p:nvSpPr>
        <p:spPr>
          <a:xfrm>
            <a:off x="685800" y="5303520"/>
            <a:ext cx="10820095" cy="457200"/>
          </a:xfrm>
          <a:prstGeom prst="rect">
            <a:avLst/>
          </a:prstGeom>
          <a:noFill/>
        </p:spPr>
        <p:txBody>
          <a:bodyPr wrap="square"/>
          <a:lstStyle/>
          <a:p>
            <a:pPr algn="ctr">
              <a:spcBef>
                <a:spcPts val="0"/>
              </a:spcBef>
              <a:spcAft>
                <a:spcPts val="0"/>
              </a:spcAft>
            </a:pPr>
            <a:r>
              <a:rPr sz="1800" b="0">
                <a:solidFill>
                  <a:srgbClr val="CC5500"/>
                </a:solidFill>
                <a:latin typeface="JetBrains Mono"/>
              </a:rPr>
              <a:t>save → parse → attribute → evaluate → govern</a:t>
            </a:r>
          </a:p>
        </p:txBody>
      </p:sp>
      <p:sp>
        <p:nvSpPr>
          <p:cNvPr id="45" name="TextBox 44"/>
          <p:cNvSpPr txBox="1"/>
          <p:nvPr/>
        </p:nvSpPr>
        <p:spPr>
          <a:xfrm>
            <a:off x="685800" y="5760720"/>
            <a:ext cx="10820095" cy="365760"/>
          </a:xfrm>
          <a:prstGeom prst="rect">
            <a:avLst/>
          </a:prstGeom>
          <a:noFill/>
        </p:spPr>
        <p:txBody>
          <a:bodyPr wrap="square"/>
          <a:lstStyle/>
          <a:p>
            <a:pPr algn="ctr">
              <a:spcBef>
                <a:spcPts val="0"/>
              </a:spcBef>
              <a:spcAft>
                <a:spcPts val="0"/>
              </a:spcAft>
            </a:pPr>
            <a:r>
              <a:rPr sz="1400" b="0">
                <a:solidFill>
                  <a:srgbClr val="85858A"/>
                </a:solidFill>
                <a:latin typeface="Inter"/>
              </a:rPr>
              <a:t>The entire loop runs in milliseconds. No workflow disruption.</a:t>
            </a:r>
          </a:p>
        </p:txBody>
      </p:sp>
      <p:sp>
        <p:nvSpPr>
          <p:cNvPr id="46" name="TextBox 45"/>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274320"/>
            <a:ext cx="10820095" cy="548640"/>
          </a:xfrm>
          <a:prstGeom prst="rect">
            <a:avLst/>
          </a:prstGeom>
          <a:noFill/>
        </p:spPr>
        <p:txBody>
          <a:bodyPr wrap="square"/>
          <a:lstStyle/>
          <a:p>
            <a:pPr algn="ctr">
              <a:spcBef>
                <a:spcPts val="0"/>
              </a:spcBef>
              <a:spcAft>
                <a:spcPts val="0"/>
              </a:spcAft>
            </a:pPr>
            <a:r>
              <a:rPr sz="3200" b="1">
                <a:solidFill>
                  <a:srgbClr val="EBEBEB"/>
                </a:solidFill>
                <a:latin typeface="JetBrains Mono"/>
              </a:rPr>
              <a:t>Built in Rust. No AI inside. 50ms per check.</a:t>
            </a:r>
          </a:p>
        </p:txBody>
      </p:sp>
      <p:sp>
        <p:nvSpPr>
          <p:cNvPr id="3" name="Rectangle 2"/>
          <p:cNvSpPr/>
          <p:nvPr/>
        </p:nvSpPr>
        <p:spPr>
          <a:xfrm>
            <a:off x="457200" y="1005840"/>
            <a:ext cx="11247120" cy="5029200"/>
          </a:xfrm>
          <a:prstGeom prst="rect">
            <a:avLst/>
          </a:prstGeom>
          <a:solidFill>
            <a:srgbClr val="0D0D0F"/>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05840"/>
            <a:ext cx="112471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3657600" cy="548640"/>
          </a:xfrm>
          <a:prstGeom prst="rect">
            <a:avLst/>
          </a:prstGeom>
          <a:noFill/>
        </p:spPr>
        <p:txBody>
          <a:bodyPr wrap="square"/>
          <a:lstStyle/>
          <a:p>
            <a:pPr algn="l">
              <a:spcBef>
                <a:spcPts val="0"/>
              </a:spcBef>
              <a:spcAft>
                <a:spcPts val="0"/>
              </a:spcAft>
            </a:pPr>
            <a:r>
              <a:rPr sz="1400" b="0">
                <a:solidFill>
                  <a:srgbClr val="CC5500"/>
                </a:solidFill>
                <a:latin typeface="JetBrains Mono"/>
              </a:rPr>
              <a:t>████  ████  a n v i l</a:t>
            </a:r>
          </a:p>
        </p:txBody>
      </p:sp>
      <p:sp>
        <p:nvSpPr>
          <p:cNvPr id="6" name="TextBox 5"/>
          <p:cNvSpPr txBox="1"/>
          <p:nvPr/>
        </p:nvSpPr>
        <p:spPr>
          <a:xfrm>
            <a:off x="7772400" y="1188720"/>
            <a:ext cx="3657600" cy="365760"/>
          </a:xfrm>
          <a:prstGeom prst="rect">
            <a:avLst/>
          </a:prstGeom>
          <a:noFill/>
        </p:spPr>
        <p:txBody>
          <a:bodyPr wrap="square"/>
          <a:lstStyle/>
          <a:p>
            <a:pPr algn="l">
              <a:spcBef>
                <a:spcPts val="0"/>
              </a:spcBef>
              <a:spcAft>
                <a:spcPts val="0"/>
              </a:spcAft>
            </a:pPr>
            <a:r>
              <a:rPr sz="1100" b="0">
                <a:solidFill>
                  <a:srgbClr val="85858A"/>
                </a:solidFill>
                <a:latin typeface="JetBrains Mono"/>
              </a:rPr>
              <a:t>GOVERNANCE WATCHER  |  POLICY: active  |  50ms</a:t>
            </a:r>
          </a:p>
        </p:txBody>
      </p:sp>
      <p:sp>
        <p:nvSpPr>
          <p:cNvPr id="7" name="Rectangle 6"/>
          <p:cNvSpPr/>
          <p:nvPr/>
        </p:nvSpPr>
        <p:spPr>
          <a:xfrm>
            <a:off x="457200" y="1737360"/>
            <a:ext cx="4114800" cy="374904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3749040" cy="274320"/>
          </a:xfrm>
          <a:prstGeom prst="rect">
            <a:avLst/>
          </a:prstGeom>
          <a:noFill/>
        </p:spPr>
        <p:txBody>
          <a:bodyPr wrap="square"/>
          <a:lstStyle/>
          <a:p>
            <a:pPr algn="l">
              <a:spcBef>
                <a:spcPts val="0"/>
              </a:spcBef>
              <a:spcAft>
                <a:spcPts val="0"/>
              </a:spcAft>
            </a:pPr>
            <a:r>
              <a:rPr sz="1200" b="0">
                <a:solidFill>
                  <a:srgbClr val="CC5500"/>
                </a:solidFill>
                <a:latin typeface="JetBrains Mono"/>
              </a:rPr>
              <a:t>[ ≡ ] ACTIVE_POLICY</a:t>
            </a:r>
          </a:p>
        </p:txBody>
      </p:sp>
      <p:sp>
        <p:nvSpPr>
          <p:cNvPr id="9" name="TextBox 8"/>
          <p:cNvSpPr txBox="1"/>
          <p:nvPr/>
        </p:nvSpPr>
        <p:spPr>
          <a:xfrm>
            <a:off x="731520" y="2194560"/>
            <a:ext cx="3566160" cy="3200400"/>
          </a:xfrm>
          <a:prstGeom prst="rect">
            <a:avLst/>
          </a:prstGeom>
          <a:noFill/>
        </p:spPr>
        <p:txBody>
          <a:bodyPr wrap="square"/>
          <a:lstStyle/>
          <a:p>
            <a:pPr algn="l">
              <a:spcBef>
                <a:spcPts val="400"/>
              </a:spcBef>
              <a:spcAft>
                <a:spcPts val="400"/>
              </a:spcAft>
            </a:pPr>
            <a:r>
              <a:rPr sz="1100" b="0">
                <a:solidFill>
                  <a:srgbClr val="EBEBEB"/>
                </a:solidFill>
                <a:latin typeface="JetBrains Mono"/>
              </a:rPr>
              <a:t>package anvil.governance</a:t>
            </a:r>
          </a:p>
          <a:p>
            <a:pPr algn="l">
              <a:spcBef>
                <a:spcPts val="400"/>
              </a:spcBef>
              <a:spcAft>
                <a:spcPts val="400"/>
              </a:spcAft>
            </a:pPr>
            <a:r>
              <a:rPr sz="1100" b="0">
                <a:solidFill>
                  <a:srgbClr val="EBEBEB"/>
                </a:solidFill>
                <a:latin typeface="JetBrains Mono"/>
              </a:rPr>
              <a:t/>
            </a:r>
          </a:p>
          <a:p>
            <a:pPr algn="l">
              <a:spcBef>
                <a:spcPts val="400"/>
              </a:spcBef>
              <a:spcAft>
                <a:spcPts val="400"/>
              </a:spcAft>
            </a:pPr>
            <a:r>
              <a:rPr sz="1100" b="0">
                <a:solidFill>
                  <a:srgbClr val="EBEBEB"/>
                </a:solidFill>
                <a:latin typeface="JetBrains Mono"/>
              </a:rPr>
              <a:t>default allow = false</a:t>
            </a:r>
          </a:p>
          <a:p>
            <a:pPr algn="l">
              <a:spcBef>
                <a:spcPts val="400"/>
              </a:spcBef>
              <a:spcAft>
                <a:spcPts val="400"/>
              </a:spcAft>
            </a:pPr>
            <a:r>
              <a:rPr sz="1100" b="0">
                <a:solidFill>
                  <a:srgbClr val="EBEBEB"/>
                </a:solidFill>
                <a:latin typeface="JetBrains Mono"/>
              </a:rPr>
              <a:t/>
            </a:r>
          </a:p>
          <a:p>
            <a:pPr algn="l">
              <a:spcBef>
                <a:spcPts val="400"/>
              </a:spcBef>
              <a:spcAft>
                <a:spcPts val="400"/>
              </a:spcAft>
            </a:pPr>
            <a:r>
              <a:rPr sz="1100" b="0">
                <a:solidFill>
                  <a:srgbClr val="EBEBEB"/>
                </a:solidFill>
                <a:latin typeface="JetBrains Mono"/>
              </a:rPr>
              <a:t>allow if {</a:t>
            </a:r>
          </a:p>
          <a:p>
            <a:pPr algn="l">
              <a:spcBef>
                <a:spcPts val="400"/>
              </a:spcBef>
              <a:spcAft>
                <a:spcPts val="400"/>
              </a:spcAft>
            </a:pPr>
            <a:r>
              <a:rPr sz="1100" b="0">
                <a:solidFill>
                  <a:srgbClr val="EBEBEB"/>
                </a:solidFill>
                <a:latin typeface="JetBrains Mono"/>
              </a:rPr>
              <a:t>    input.authorship != "unknown"</a:t>
            </a:r>
          </a:p>
          <a:p>
            <a:pPr algn="l">
              <a:spcBef>
                <a:spcPts val="400"/>
              </a:spcBef>
              <a:spcAft>
                <a:spcPts val="400"/>
              </a:spcAft>
            </a:pPr>
            <a:r>
              <a:rPr sz="1100" b="0">
                <a:solidFill>
                  <a:srgbClr val="EBEBEB"/>
                </a:solidFill>
                <a:latin typeface="JetBrains Mono"/>
              </a:rPr>
              <a:t>    input.trust_score &gt;= 0.7</a:t>
            </a:r>
          </a:p>
          <a:p>
            <a:pPr algn="l">
              <a:spcBef>
                <a:spcPts val="400"/>
              </a:spcBef>
              <a:spcAft>
                <a:spcPts val="400"/>
              </a:spcAft>
            </a:pPr>
            <a:r>
              <a:rPr sz="1100" b="0">
                <a:solidFill>
                  <a:srgbClr val="EBEBEB"/>
                </a:solidFill>
                <a:latin typeface="JetBrains Mono"/>
              </a:rPr>
              <a:t>    not boundary_violation</a:t>
            </a:r>
          </a:p>
          <a:p>
            <a:pPr algn="l">
              <a:spcBef>
                <a:spcPts val="400"/>
              </a:spcBef>
              <a:spcAft>
                <a:spcPts val="400"/>
              </a:spcAft>
            </a:pPr>
            <a:r>
              <a:rPr sz="1100" b="0">
                <a:solidFill>
                  <a:srgbClr val="EBEBEB"/>
                </a:solidFill>
                <a:latin typeface="JetBrains Mono"/>
              </a:rPr>
              <a:t>}</a:t>
            </a:r>
          </a:p>
          <a:p>
            <a:pPr algn="l">
              <a:spcBef>
                <a:spcPts val="400"/>
              </a:spcBef>
              <a:spcAft>
                <a:spcPts val="400"/>
              </a:spcAft>
            </a:pPr>
            <a:r>
              <a:rPr sz="1100" b="0">
                <a:solidFill>
                  <a:srgbClr val="EBEBEB"/>
                </a:solidFill>
                <a:latin typeface="JetBrains Mono"/>
              </a:rPr>
              <a:t/>
            </a:r>
          </a:p>
          <a:p>
            <a:pPr algn="l">
              <a:spcBef>
                <a:spcPts val="400"/>
              </a:spcBef>
              <a:spcAft>
                <a:spcPts val="400"/>
              </a:spcAft>
            </a:pPr>
            <a:r>
              <a:rPr sz="1100" b="0">
                <a:solidFill>
                  <a:srgbClr val="EBEBEB"/>
                </a:solidFill>
                <a:latin typeface="JetBrains Mono"/>
              </a:rPr>
              <a:t>boundary_violation if {</a:t>
            </a:r>
          </a:p>
          <a:p>
            <a:pPr algn="l">
              <a:spcBef>
                <a:spcPts val="400"/>
              </a:spcBef>
              <a:spcAft>
                <a:spcPts val="400"/>
              </a:spcAft>
            </a:pPr>
            <a:r>
              <a:rPr sz="1100" b="0">
                <a:solidFill>
                  <a:srgbClr val="EBEBEB"/>
                </a:solidFill>
                <a:latin typeface="JetBrains Mono"/>
              </a:rPr>
              <a:t>    input.crosses_boundary</a:t>
            </a:r>
          </a:p>
          <a:p>
            <a:pPr algn="l">
              <a:spcBef>
                <a:spcPts val="400"/>
              </a:spcBef>
              <a:spcAft>
                <a:spcPts val="400"/>
              </a:spcAft>
            </a:pPr>
            <a:r>
              <a:rPr sz="1100" b="0">
                <a:solidFill>
                  <a:srgbClr val="EBEBEB"/>
                </a:solidFill>
                <a:latin typeface="JetBrains Mono"/>
              </a:rPr>
              <a:t>    not input.has_exception</a:t>
            </a:r>
          </a:p>
          <a:p>
            <a:pPr algn="l">
              <a:spcBef>
                <a:spcPts val="400"/>
              </a:spcBef>
              <a:spcAft>
                <a:spcPts val="400"/>
              </a:spcAft>
            </a:pPr>
            <a:r>
              <a:rPr sz="1100" b="0">
                <a:solidFill>
                  <a:srgbClr val="EBEBEB"/>
                </a:solidFill>
                <a:latin typeface="JetBrains Mono"/>
              </a:rPr>
              <a:t>}</a:t>
            </a:r>
          </a:p>
        </p:txBody>
      </p:sp>
      <p:sp>
        <p:nvSpPr>
          <p:cNvPr id="10" name="Rectangle 9"/>
          <p:cNvSpPr/>
          <p:nvPr/>
        </p:nvSpPr>
        <p:spPr>
          <a:xfrm>
            <a:off x="4572000" y="1737360"/>
            <a:ext cx="7132320" cy="3749040"/>
          </a:xfrm>
          <a:prstGeom prst="rect">
            <a:avLst/>
          </a:prstGeom>
          <a:solidFill>
            <a:srgbClr val="0D0D0F"/>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828800"/>
            <a:ext cx="6766560" cy="274320"/>
          </a:xfrm>
          <a:prstGeom prst="rect">
            <a:avLst/>
          </a:prstGeom>
          <a:noFill/>
        </p:spPr>
        <p:txBody>
          <a:bodyPr wrap="square"/>
          <a:lstStyle/>
          <a:p>
            <a:pPr algn="l">
              <a:spcBef>
                <a:spcPts val="0"/>
              </a:spcBef>
              <a:spcAft>
                <a:spcPts val="0"/>
              </a:spcAft>
            </a:pPr>
            <a:r>
              <a:rPr sz="1200" b="0">
                <a:solidFill>
                  <a:srgbClr val="CC5500"/>
                </a:solidFill>
                <a:latin typeface="JetBrains Mono"/>
              </a:rPr>
              <a:t>[ = ] SIGNAL_INTERCEPTOR</a:t>
            </a:r>
          </a:p>
        </p:txBody>
      </p:sp>
      <p:sp>
        <p:nvSpPr>
          <p:cNvPr id="12" name="TextBox 11"/>
          <p:cNvSpPr txBox="1"/>
          <p:nvPr/>
        </p:nvSpPr>
        <p:spPr>
          <a:xfrm>
            <a:off x="4754880" y="2194560"/>
            <a:ext cx="6766560" cy="3200400"/>
          </a:xfrm>
          <a:prstGeom prst="rect">
            <a:avLst/>
          </a:prstGeom>
          <a:noFill/>
        </p:spPr>
        <p:txBody>
          <a:bodyPr wrap="square"/>
          <a:lstStyle/>
          <a:p>
            <a:pPr algn="l">
              <a:spcBef>
                <a:spcPts val="400"/>
              </a:spcBef>
              <a:spcAft>
                <a:spcPts val="400"/>
              </a:spcAft>
            </a:pPr>
            <a:r>
              <a:rPr sz="1100" b="1">
                <a:solidFill>
                  <a:srgbClr val="2E8B57"/>
                </a:solidFill>
                <a:latin typeface="JetBrains Mono"/>
              </a:rPr>
              <a:t>█ PASS </a:t>
            </a:r>
            <a:r>
              <a:rPr sz="1100" b="0">
                <a:solidFill>
                  <a:srgbClr val="85858A"/>
                </a:solidFill>
                <a:latin typeface="JetBrains Mono"/>
              </a:rPr>
              <a:t> src/auth/login.ts  authorship:human  trust:0.92</a:t>
            </a:r>
          </a:p>
          <a:p>
            <a:pPr algn="l">
              <a:spcBef>
                <a:spcPts val="400"/>
              </a:spcBef>
              <a:spcAft>
                <a:spcPts val="400"/>
              </a:spcAft>
            </a:pPr>
            <a:r>
              <a:rPr sz="1100" b="1">
                <a:solidFill>
                  <a:srgbClr val="2E8B57"/>
                </a:solidFill>
                <a:latin typeface="JetBrains Mono"/>
              </a:rPr>
              <a:t>█ PASS </a:t>
            </a:r>
            <a:r>
              <a:rPr sz="1100" b="0">
                <a:solidFill>
                  <a:srgbClr val="85858A"/>
                </a:solidFill>
                <a:latin typeface="JetBrains Mono"/>
              </a:rPr>
              <a:t> src/api/routes.ts  authorship:human  trust:0.88</a:t>
            </a:r>
          </a:p>
          <a:p>
            <a:pPr algn="l">
              <a:spcBef>
                <a:spcPts val="400"/>
              </a:spcBef>
              <a:spcAft>
                <a:spcPts val="400"/>
              </a:spcAft>
            </a:pPr>
            <a:r>
              <a:rPr sz="1100" b="1">
                <a:solidFill>
                  <a:srgbClr val="D08C38"/>
                </a:solidFill>
                <a:latin typeface="JetBrains Mono"/>
              </a:rPr>
              <a:t>█ WARN </a:t>
            </a:r>
            <a:r>
              <a:rPr sz="1100" b="0">
                <a:solidFill>
                  <a:srgbClr val="85858A"/>
                </a:solidFill>
                <a:latin typeface="JetBrains Mono"/>
              </a:rPr>
              <a:t> src/utils/parse.ts  authorship:mixed  trust:0.71</a:t>
            </a:r>
          </a:p>
          <a:p>
            <a:pPr algn="l">
              <a:spcBef>
                <a:spcPts val="400"/>
              </a:spcBef>
              <a:spcAft>
                <a:spcPts val="400"/>
              </a:spcAft>
            </a:pPr>
            <a:r>
              <a:rPr sz="1100" b="1">
                <a:solidFill>
                  <a:srgbClr val="2E8B57"/>
                </a:solidFill>
                <a:latin typeface="JetBrains Mono"/>
              </a:rPr>
              <a:t>█ PASS </a:t>
            </a:r>
            <a:r>
              <a:rPr sz="1100" b="0">
                <a:solidFill>
                  <a:srgbClr val="85858A"/>
                </a:solidFill>
                <a:latin typeface="JetBrains Mono"/>
              </a:rPr>
              <a:t> src/db/schema.ts  authorship:human  trust:0.95</a:t>
            </a:r>
          </a:p>
          <a:p>
            <a:pPr algn="l">
              <a:spcBef>
                <a:spcPts val="400"/>
              </a:spcBef>
              <a:spcAft>
                <a:spcPts val="400"/>
              </a:spcAft>
            </a:pPr>
            <a:r>
              <a:rPr sz="1100" b="1">
                <a:solidFill>
                  <a:srgbClr val="C94A4A"/>
                </a:solidFill>
                <a:latin typeface="JetBrains Mono"/>
              </a:rPr>
              <a:t>█ BLOCK</a:t>
            </a:r>
            <a:r>
              <a:rPr sz="1100" b="0">
                <a:solidFill>
                  <a:srgbClr val="85858A"/>
                </a:solidFill>
                <a:latin typeface="JetBrains Mono"/>
              </a:rPr>
              <a:t> src/ai/gen.ts  authorship:ai  trust:0.34  BOUNDARY</a:t>
            </a:r>
          </a:p>
          <a:p>
            <a:pPr algn="l">
              <a:spcBef>
                <a:spcPts val="400"/>
              </a:spcBef>
              <a:spcAft>
                <a:spcPts val="400"/>
              </a:spcAft>
            </a:pPr>
            <a:r>
              <a:rPr sz="1100" b="1">
                <a:solidFill>
                  <a:srgbClr val="2E8B57"/>
                </a:solidFill>
                <a:latin typeface="JetBrains Mono"/>
              </a:rPr>
              <a:t>█ PASS </a:t>
            </a:r>
            <a:r>
              <a:rPr sz="1100" b="0">
                <a:solidFill>
                  <a:srgbClr val="85858A"/>
                </a:solidFill>
                <a:latin typeface="JetBrains Mono"/>
              </a:rPr>
              <a:t> src/core/engine.rs  authorship:human  trust:0.97</a:t>
            </a:r>
          </a:p>
          <a:p>
            <a:pPr algn="l">
              <a:spcBef>
                <a:spcPts val="400"/>
              </a:spcBef>
              <a:spcAft>
                <a:spcPts val="400"/>
              </a:spcAft>
            </a:pPr>
            <a:r>
              <a:rPr sz="1100" b="1">
                <a:solidFill>
                  <a:srgbClr val="D08C38"/>
                </a:solidFill>
                <a:latin typeface="JetBrains Mono"/>
              </a:rPr>
              <a:t>█ WARN </a:t>
            </a:r>
            <a:r>
              <a:rPr sz="1100" b="0">
                <a:solidFill>
                  <a:srgbClr val="85858A"/>
                </a:solidFill>
                <a:latin typeface="JetBrains Mono"/>
              </a:rPr>
              <a:t> src/lib/helpers.ts  authorship:ai  trust:0.68</a:t>
            </a:r>
          </a:p>
          <a:p>
            <a:pPr algn="l">
              <a:spcBef>
                <a:spcPts val="400"/>
              </a:spcBef>
              <a:spcAft>
                <a:spcPts val="400"/>
              </a:spcAft>
            </a:pPr>
            <a:r>
              <a:rPr sz="1100" b="1">
                <a:solidFill>
                  <a:srgbClr val="2E8B57"/>
                </a:solidFill>
                <a:latin typeface="JetBrains Mono"/>
              </a:rPr>
              <a:t>█ PASS </a:t>
            </a:r>
            <a:r>
              <a:rPr sz="1100" b="0">
                <a:solidFill>
                  <a:srgbClr val="85858A"/>
                </a:solidFill>
                <a:latin typeface="JetBrains Mono"/>
              </a:rPr>
              <a:t> src/config/policy.rego  authorship:human  trust:0.91</a:t>
            </a:r>
          </a:p>
        </p:txBody>
      </p:sp>
      <p:sp>
        <p:nvSpPr>
          <p:cNvPr id="13" name="Rectangle 12"/>
          <p:cNvSpPr/>
          <p:nvPr/>
        </p:nvSpPr>
        <p:spPr>
          <a:xfrm>
            <a:off x="457200" y="5486400"/>
            <a:ext cx="11247120" cy="54864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577840"/>
            <a:ext cx="4572000"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    v0.9.2-beta</a:t>
            </a:r>
          </a:p>
        </p:txBody>
      </p:sp>
      <p:sp>
        <p:nvSpPr>
          <p:cNvPr id="15" name="TextBox 14"/>
          <p:cNvSpPr txBox="1"/>
          <p:nvPr/>
        </p:nvSpPr>
        <p:spPr>
          <a:xfrm>
            <a:off x="6858000" y="5577840"/>
            <a:ext cx="4572000" cy="365760"/>
          </a:xfrm>
          <a:prstGeom prst="rect">
            <a:avLst/>
          </a:prstGeom>
          <a:noFill/>
        </p:spPr>
        <p:txBody>
          <a:bodyPr wrap="square"/>
          <a:lstStyle/>
          <a:p>
            <a:pPr algn="r">
              <a:spcBef>
                <a:spcPts val="0"/>
              </a:spcBef>
              <a:spcAft>
                <a:spcPts val="0"/>
              </a:spcAft>
            </a:pPr>
            <a:r>
              <a:rPr sz="1000" b="0">
                <a:solidFill>
                  <a:srgbClr val="85858A"/>
                </a:solidFill>
                <a:latin typeface="JetBrains Mono"/>
              </a:rPr>
              <a:t>8 events  |  6 pass  |  1 warn  |  1 block  |  avg 47ms</a:t>
            </a:r>
          </a:p>
        </p:txBody>
      </p:sp>
      <p:sp>
        <p:nvSpPr>
          <p:cNvPr id="16" name="TextBox 15"/>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lstStyle/>
          <a:p>
            <a:pPr algn="ctr">
              <a:spcBef>
                <a:spcPts val="0"/>
              </a:spcBef>
              <a:spcAft>
                <a:spcPts val="0"/>
              </a:spcAft>
            </a:pPr>
            <a:r>
              <a:rPr sz="3200" b="1">
                <a:solidFill>
                  <a:srgbClr val="EBEBEB"/>
                </a:solidFill>
                <a:latin typeface="JetBrains Mono"/>
              </a:rPr>
              <a:t>USD 21.5B market. USD 492M in AI governance alone.</a:t>
            </a:r>
          </a:p>
        </p:txBody>
      </p:sp>
      <p:sp>
        <p:nvSpPr>
          <p:cNvPr id="3" name="Rectangle 2"/>
          <p:cNvSpPr/>
          <p:nvPr/>
        </p:nvSpPr>
        <p:spPr>
          <a:xfrm>
            <a:off x="1371600" y="1371600"/>
            <a:ext cx="9418320" cy="4389120"/>
          </a:xfrm>
          <a:prstGeom prst="rect">
            <a:avLst/>
          </a:prstGeom>
          <a:solidFill>
            <a:srgbClr val="141416"/>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3657600" cy="457200"/>
          </a:xfrm>
          <a:prstGeom prst="rect">
            <a:avLst/>
          </a:prstGeom>
          <a:noFill/>
        </p:spPr>
        <p:txBody>
          <a:bodyPr wrap="square"/>
          <a:lstStyle/>
          <a:p>
            <a:pPr algn="l">
              <a:spcBef>
                <a:spcPts val="0"/>
              </a:spcBef>
              <a:spcAft>
                <a:spcPts val="0"/>
              </a:spcAft>
            </a:pPr>
            <a:r>
              <a:rPr sz="4800" b="1">
                <a:solidFill>
                  <a:srgbClr val="EBEBEB"/>
                </a:solidFill>
                <a:latin typeface="JetBrains Mono"/>
              </a:rPr>
              <a:t>USD 21.5B</a:t>
            </a:r>
          </a:p>
        </p:txBody>
      </p:sp>
      <p:sp>
        <p:nvSpPr>
          <p:cNvPr id="5" name="TextBox 4"/>
          <p:cNvSpPr txBox="1"/>
          <p:nvPr/>
        </p:nvSpPr>
        <p:spPr>
          <a:xfrm>
            <a:off x="1645920" y="2194560"/>
            <a:ext cx="3657600" cy="365760"/>
          </a:xfrm>
          <a:prstGeom prst="rect">
            <a:avLst/>
          </a:prstGeom>
          <a:noFill/>
        </p:spPr>
        <p:txBody>
          <a:bodyPr wrap="square"/>
          <a:lstStyle/>
          <a:p>
            <a:pPr algn="l">
              <a:spcBef>
                <a:spcPts val="0"/>
              </a:spcBef>
              <a:spcAft>
                <a:spcPts val="0"/>
              </a:spcAft>
            </a:pPr>
            <a:r>
              <a:rPr sz="1400" b="0">
                <a:solidFill>
                  <a:srgbClr val="85858A"/>
                </a:solidFill>
                <a:latin typeface="Inter"/>
              </a:rPr>
              <a:t>TAM — AI code tools + AppSec + governance (2025)</a:t>
            </a:r>
          </a:p>
        </p:txBody>
      </p:sp>
      <p:sp>
        <p:nvSpPr>
          <p:cNvPr id="6" name="Rectangle 5"/>
          <p:cNvSpPr/>
          <p:nvPr/>
        </p:nvSpPr>
        <p:spPr>
          <a:xfrm>
            <a:off x="2743200" y="2743200"/>
            <a:ext cx="6675120" cy="2377440"/>
          </a:xfrm>
          <a:prstGeom prst="rect">
            <a:avLst/>
          </a:prstGeom>
          <a:solidFill>
            <a:srgbClr val="141416"/>
          </a:solidFill>
          <a:ln w="25400">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2926080"/>
            <a:ext cx="3657600" cy="457200"/>
          </a:xfrm>
          <a:prstGeom prst="rect">
            <a:avLst/>
          </a:prstGeom>
          <a:noFill/>
        </p:spPr>
        <p:txBody>
          <a:bodyPr wrap="square"/>
          <a:lstStyle/>
          <a:p>
            <a:pPr algn="l">
              <a:spcBef>
                <a:spcPts val="0"/>
              </a:spcBef>
              <a:spcAft>
                <a:spcPts val="0"/>
              </a:spcAft>
            </a:pPr>
            <a:r>
              <a:rPr sz="3600" b="1">
                <a:solidFill>
                  <a:srgbClr val="EBEBEB"/>
                </a:solidFill>
                <a:latin typeface="JetBrains Mono"/>
              </a:rPr>
              <a:t>USD 1.5–2.0B</a:t>
            </a:r>
          </a:p>
        </p:txBody>
      </p:sp>
      <p:sp>
        <p:nvSpPr>
          <p:cNvPr id="8" name="TextBox 7"/>
          <p:cNvSpPr txBox="1"/>
          <p:nvPr/>
        </p:nvSpPr>
        <p:spPr>
          <a:xfrm>
            <a:off x="3017520" y="3383280"/>
            <a:ext cx="4572000" cy="365760"/>
          </a:xfrm>
          <a:prstGeom prst="rect">
            <a:avLst/>
          </a:prstGeom>
          <a:noFill/>
        </p:spPr>
        <p:txBody>
          <a:bodyPr wrap="square"/>
          <a:lstStyle/>
          <a:p>
            <a:pPr algn="l">
              <a:spcBef>
                <a:spcPts val="0"/>
              </a:spcBef>
              <a:spcAft>
                <a:spcPts val="0"/>
              </a:spcAft>
            </a:pPr>
            <a:r>
              <a:rPr sz="1300" b="0">
                <a:solidFill>
                  <a:srgbClr val="85858A"/>
                </a:solidFill>
                <a:latin typeface="Inter"/>
              </a:rPr>
              <a:t>SAM — Governance + quality for AI-assisted development</a:t>
            </a:r>
          </a:p>
        </p:txBody>
      </p:sp>
      <p:sp>
        <p:nvSpPr>
          <p:cNvPr id="9" name="Rectangle 8"/>
          <p:cNvSpPr/>
          <p:nvPr/>
        </p:nvSpPr>
        <p:spPr>
          <a:xfrm>
            <a:off x="3840480" y="3840480"/>
            <a:ext cx="4480560" cy="1005840"/>
          </a:xfrm>
          <a:prstGeom prst="rect">
            <a:avLst/>
          </a:prstGeom>
          <a:solidFill>
            <a:srgbClr val="331905"/>
          </a:solidFill>
          <a:ln w="38100">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4023360"/>
            <a:ext cx="3657600" cy="457200"/>
          </a:xfrm>
          <a:prstGeom prst="rect">
            <a:avLst/>
          </a:prstGeom>
          <a:noFill/>
        </p:spPr>
        <p:txBody>
          <a:bodyPr wrap="square"/>
          <a:lstStyle/>
          <a:p>
            <a:pPr algn="l">
              <a:spcBef>
                <a:spcPts val="0"/>
              </a:spcBef>
              <a:spcAft>
                <a:spcPts val="0"/>
              </a:spcAft>
            </a:pPr>
            <a:r>
              <a:rPr sz="2800" b="1">
                <a:solidFill>
                  <a:srgbClr val="CC5500"/>
                </a:solidFill>
                <a:latin typeface="JetBrains Mono"/>
              </a:rPr>
              <a:t>USD 50–100M</a:t>
            </a:r>
          </a:p>
        </p:txBody>
      </p:sp>
      <p:sp>
        <p:nvSpPr>
          <p:cNvPr id="11" name="TextBox 10"/>
          <p:cNvSpPr txBox="1"/>
          <p:nvPr/>
        </p:nvSpPr>
        <p:spPr>
          <a:xfrm>
            <a:off x="4114800" y="4389120"/>
            <a:ext cx="3657600" cy="365760"/>
          </a:xfrm>
          <a:prstGeom prst="rect">
            <a:avLst/>
          </a:prstGeom>
          <a:noFill/>
        </p:spPr>
        <p:txBody>
          <a:bodyPr wrap="square"/>
          <a:lstStyle/>
          <a:p>
            <a:pPr algn="l">
              <a:spcBef>
                <a:spcPts val="0"/>
              </a:spcBef>
              <a:spcAft>
                <a:spcPts val="0"/>
              </a:spcAft>
            </a:pPr>
            <a:r>
              <a:rPr sz="1300" b="0">
                <a:solidFill>
                  <a:srgbClr val="85858A"/>
                </a:solidFill>
                <a:latin typeface="Inter"/>
              </a:rPr>
              <a:t>SOM — Early adopter segment (Year 3)</a:t>
            </a:r>
          </a:p>
        </p:txBody>
      </p:sp>
      <p:sp>
        <p:nvSpPr>
          <p:cNvPr id="12" name="TextBox 11"/>
          <p:cNvSpPr txBox="1"/>
          <p:nvPr/>
        </p:nvSpPr>
        <p:spPr>
          <a:xfrm>
            <a:off x="7315200" y="1645920"/>
            <a:ext cx="3200400" cy="731520"/>
          </a:xfrm>
          <a:prstGeom prst="rect">
            <a:avLst/>
          </a:prstGeom>
          <a:noFill/>
        </p:spPr>
        <p:txBody>
          <a:bodyPr wrap="square"/>
          <a:lstStyle/>
          <a:p>
            <a:pPr algn="l">
              <a:spcBef>
                <a:spcPts val="0"/>
              </a:spcBef>
              <a:spcAft>
                <a:spcPts val="0"/>
              </a:spcAft>
            </a:pPr>
            <a:r>
              <a:rPr sz="1400" b="0">
                <a:solidFill>
                  <a:srgbClr val="CC5500"/>
                </a:solidFill>
                <a:latin typeface="Inter"/>
              </a:rPr>
              <a:t>3.4x more effective governance
with purpose-built platforms</a:t>
            </a:r>
          </a:p>
        </p:txBody>
      </p:sp>
      <p:sp>
        <p:nvSpPr>
          <p:cNvPr id="13" name="TextBox 12"/>
          <p:cNvSpPr txBox="1"/>
          <p:nvPr/>
        </p:nvSpPr>
        <p:spPr>
          <a:xfrm>
            <a:off x="7315200" y="2377440"/>
            <a:ext cx="3200400" cy="365760"/>
          </a:xfrm>
          <a:prstGeom prst="rect">
            <a:avLst/>
          </a:prstGeom>
          <a:noFill/>
        </p:spPr>
        <p:txBody>
          <a:bodyPr wrap="square"/>
          <a:lstStyle/>
          <a:p>
            <a:pPr algn="l">
              <a:spcBef>
                <a:spcPts val="0"/>
              </a:spcBef>
              <a:spcAft>
                <a:spcPts val="0"/>
              </a:spcAft>
            </a:pPr>
            <a:r>
              <a:rPr sz="1200" b="0">
                <a:solidFill>
                  <a:srgbClr val="85858A"/>
                </a:solidFill>
                <a:latin typeface="Inter"/>
              </a:rPr>
              <a:t>AppSec: USD 13.6B, 22%+ CAGR</a:t>
            </a:r>
          </a:p>
        </p:txBody>
      </p:sp>
      <p:sp>
        <p:nvSpPr>
          <p:cNvPr id="14" name="TextBox 13"/>
          <p:cNvSpPr txBox="1"/>
          <p:nvPr/>
        </p:nvSpPr>
        <p:spPr>
          <a:xfrm>
            <a:off x="685800" y="5943600"/>
            <a:ext cx="10820095" cy="274320"/>
          </a:xfrm>
          <a:prstGeom prst="rect">
            <a:avLst/>
          </a:prstGeom>
          <a:noFill/>
        </p:spPr>
        <p:txBody>
          <a:bodyPr wrap="square"/>
          <a:lstStyle/>
          <a:p>
            <a:pPr algn="r">
              <a:spcBef>
                <a:spcPts val="0"/>
              </a:spcBef>
              <a:spcAft>
                <a:spcPts val="0"/>
              </a:spcAft>
            </a:pPr>
            <a:r>
              <a:rPr sz="900" b="0">
                <a:solidFill>
                  <a:srgbClr val="85858A"/>
                </a:solidFill>
                <a:latin typeface="Inter"/>
              </a:rPr>
              <a:t>Sources: Mordor Intelligence, Gartner (Feb 2026), derived analysis</a:t>
            </a:r>
          </a:p>
        </p:txBody>
      </p:sp>
      <p:sp>
        <p:nvSpPr>
          <p:cNvPr id="15" name="TextBox 14"/>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274320"/>
            <a:ext cx="10820095" cy="548640"/>
          </a:xfrm>
          <a:prstGeom prst="rect">
            <a:avLst/>
          </a:prstGeom>
          <a:noFill/>
        </p:spPr>
        <p:txBody>
          <a:bodyPr wrap="square"/>
          <a:lstStyle/>
          <a:p>
            <a:pPr algn="ctr">
              <a:spcBef>
                <a:spcPts val="0"/>
              </a:spcBef>
              <a:spcAft>
                <a:spcPts val="0"/>
              </a:spcAft>
            </a:pPr>
            <a:r>
              <a:rPr sz="3000" b="1">
                <a:solidFill>
                  <a:srgbClr val="EBEBEB"/>
                </a:solidFill>
                <a:latin typeface="JetBrains Mono"/>
              </a:rPr>
              <a:t>The only tool that is both deterministic and pre-commit</a:t>
            </a:r>
          </a:p>
        </p:txBody>
      </p:sp>
      <p:sp>
        <p:nvSpPr>
          <p:cNvPr id="3" name="TextBox 2"/>
          <p:cNvSpPr txBox="1"/>
          <p:nvPr/>
        </p:nvSpPr>
        <p:spPr>
          <a:xfrm>
            <a:off x="274320" y="1828800"/>
            <a:ext cx="1645920" cy="457200"/>
          </a:xfrm>
          <a:prstGeom prst="rect">
            <a:avLst/>
          </a:prstGeom>
          <a:noFill/>
        </p:spPr>
        <p:txBody>
          <a:bodyPr wrap="square"/>
          <a:lstStyle/>
          <a:p>
            <a:pPr algn="r">
              <a:spcBef>
                <a:spcPts val="0"/>
              </a:spcBef>
              <a:spcAft>
                <a:spcPts val="0"/>
              </a:spcAft>
            </a:pPr>
            <a:r>
              <a:rPr sz="1300" b="0">
                <a:solidFill>
                  <a:srgbClr val="85858A"/>
                </a:solidFill>
                <a:latin typeface="JetBrains Mono"/>
              </a:rPr>
              <a:t>DETERMINISTIC</a:t>
            </a:r>
          </a:p>
        </p:txBody>
      </p:sp>
      <p:sp>
        <p:nvSpPr>
          <p:cNvPr id="4" name="TextBox 3"/>
          <p:cNvSpPr txBox="1"/>
          <p:nvPr/>
        </p:nvSpPr>
        <p:spPr>
          <a:xfrm>
            <a:off x="274320" y="4114800"/>
            <a:ext cx="1645920" cy="457200"/>
          </a:xfrm>
          <a:prstGeom prst="rect">
            <a:avLst/>
          </a:prstGeom>
          <a:noFill/>
        </p:spPr>
        <p:txBody>
          <a:bodyPr wrap="square"/>
          <a:lstStyle/>
          <a:p>
            <a:pPr algn="r">
              <a:spcBef>
                <a:spcPts val="0"/>
              </a:spcBef>
              <a:spcAft>
                <a:spcPts val="0"/>
              </a:spcAft>
            </a:pPr>
            <a:r>
              <a:rPr sz="1300" b="0">
                <a:solidFill>
                  <a:srgbClr val="85858A"/>
                </a:solidFill>
                <a:latin typeface="JetBrains Mono"/>
              </a:rPr>
              <a:t>PROBABILISTIC</a:t>
            </a:r>
          </a:p>
        </p:txBody>
      </p:sp>
      <p:sp>
        <p:nvSpPr>
          <p:cNvPr id="5" name="TextBox 4"/>
          <p:cNvSpPr txBox="1"/>
          <p:nvPr/>
        </p:nvSpPr>
        <p:spPr>
          <a:xfrm>
            <a:off x="2286000" y="6035040"/>
            <a:ext cx="3657600" cy="365760"/>
          </a:xfrm>
          <a:prstGeom prst="rect">
            <a:avLst/>
          </a:prstGeom>
          <a:noFill/>
        </p:spPr>
        <p:txBody>
          <a:bodyPr wrap="square"/>
          <a:lstStyle/>
          <a:p>
            <a:pPr algn="ctr">
              <a:spcBef>
                <a:spcPts val="0"/>
              </a:spcBef>
              <a:spcAft>
                <a:spcPts val="0"/>
              </a:spcAft>
            </a:pPr>
            <a:r>
              <a:rPr sz="1300" b="0">
                <a:solidFill>
                  <a:srgbClr val="85858A"/>
                </a:solidFill>
                <a:latin typeface="JetBrains Mono"/>
              </a:rPr>
              <a:t>PRE-COMMIT</a:t>
            </a:r>
          </a:p>
        </p:txBody>
      </p:sp>
      <p:sp>
        <p:nvSpPr>
          <p:cNvPr id="6" name="TextBox 5"/>
          <p:cNvSpPr txBox="1"/>
          <p:nvPr/>
        </p:nvSpPr>
        <p:spPr>
          <a:xfrm>
            <a:off x="5943600" y="6035040"/>
            <a:ext cx="3657600" cy="365760"/>
          </a:xfrm>
          <a:prstGeom prst="rect">
            <a:avLst/>
          </a:prstGeom>
          <a:noFill/>
        </p:spPr>
        <p:txBody>
          <a:bodyPr wrap="square"/>
          <a:lstStyle/>
          <a:p>
            <a:pPr algn="ctr">
              <a:spcBef>
                <a:spcPts val="0"/>
              </a:spcBef>
              <a:spcAft>
                <a:spcPts val="0"/>
              </a:spcAft>
            </a:pPr>
            <a:r>
              <a:rPr sz="1300" b="0">
                <a:solidFill>
                  <a:srgbClr val="85858A"/>
                </a:solidFill>
                <a:latin typeface="JetBrains Mono"/>
              </a:rPr>
              <a:t>POST-COMMIT</a:t>
            </a:r>
          </a:p>
        </p:txBody>
      </p:sp>
      <p:cxnSp>
        <p:nvCxnSpPr>
          <p:cNvPr id="7" name="Connector 6"/>
          <p:cNvCxnSpPr/>
          <p:nvPr/>
        </p:nvCxnSpPr>
        <p:spPr>
          <a:xfrm>
            <a:off x="2286000" y="1371600"/>
            <a:ext cx="7315200"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286000" y="3657600"/>
            <a:ext cx="7315200"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286000" y="5943600"/>
            <a:ext cx="7315200"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286000" y="1371600"/>
            <a:ext cx="0" cy="457200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43600" y="1371600"/>
            <a:ext cx="0" cy="457200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601200" y="1371600"/>
            <a:ext cx="0" cy="457200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311400" y="1397000"/>
            <a:ext cx="3606800" cy="2235200"/>
          </a:xfrm>
          <a:prstGeom prst="rect">
            <a:avLst/>
          </a:prstGeom>
          <a:solidFill>
            <a:srgbClr val="331905"/>
          </a:solidFill>
          <a:ln w="38100">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1737360"/>
            <a:ext cx="3108960" cy="457200"/>
          </a:xfrm>
          <a:prstGeom prst="rect">
            <a:avLst/>
          </a:prstGeom>
          <a:noFill/>
        </p:spPr>
        <p:txBody>
          <a:bodyPr wrap="square"/>
          <a:lstStyle/>
          <a:p>
            <a:pPr algn="ctr">
              <a:spcBef>
                <a:spcPts val="0"/>
              </a:spcBef>
              <a:spcAft>
                <a:spcPts val="0"/>
              </a:spcAft>
            </a:pPr>
            <a:r>
              <a:rPr sz="2800" b="1">
                <a:solidFill>
                  <a:srgbClr val="CC5500"/>
                </a:solidFill>
                <a:latin typeface="JetBrains Mono"/>
              </a:rPr>
              <a:t>ANVIL</a:t>
            </a:r>
          </a:p>
        </p:txBody>
      </p:sp>
      <p:sp>
        <p:nvSpPr>
          <p:cNvPr id="15" name="TextBox 14"/>
          <p:cNvSpPr txBox="1"/>
          <p:nvPr/>
        </p:nvSpPr>
        <p:spPr>
          <a:xfrm>
            <a:off x="2560320" y="2286000"/>
            <a:ext cx="3108960" cy="731520"/>
          </a:xfrm>
          <a:prstGeom prst="rect">
            <a:avLst/>
          </a:prstGeom>
          <a:noFill/>
        </p:spPr>
        <p:txBody>
          <a:bodyPr wrap="square"/>
          <a:lstStyle/>
          <a:p>
            <a:pPr algn="ctr">
              <a:spcBef>
                <a:spcPts val="0"/>
              </a:spcBef>
              <a:spcAft>
                <a:spcPts val="0"/>
              </a:spcAft>
            </a:pPr>
            <a:r>
              <a:rPr sz="1300" b="0">
                <a:solidFill>
                  <a:srgbClr val="EBEBEB"/>
                </a:solidFill>
                <a:latin typeface="Inter"/>
              </a:rPr>
              <a:t>Deterministic policy
Line-level attribution
Pre-commit enforcement</a:t>
            </a:r>
          </a:p>
        </p:txBody>
      </p:sp>
      <p:sp>
        <p:nvSpPr>
          <p:cNvPr id="16" name="TextBox 15"/>
          <p:cNvSpPr txBox="1"/>
          <p:nvPr/>
        </p:nvSpPr>
        <p:spPr>
          <a:xfrm>
            <a:off x="6217920" y="1737360"/>
            <a:ext cx="3108960" cy="457200"/>
          </a:xfrm>
          <a:prstGeom prst="rect">
            <a:avLst/>
          </a:prstGeom>
          <a:noFill/>
        </p:spPr>
        <p:txBody>
          <a:bodyPr wrap="square"/>
          <a:lstStyle/>
          <a:p>
            <a:pPr algn="ctr">
              <a:spcBef>
                <a:spcPts val="0"/>
              </a:spcBef>
              <a:spcAft>
                <a:spcPts val="0"/>
              </a:spcAft>
            </a:pPr>
            <a:r>
              <a:rPr sz="2000" b="0">
                <a:solidFill>
                  <a:srgbClr val="85858A"/>
                </a:solidFill>
                <a:latin typeface="Inter"/>
              </a:rPr>
              <a:t>Static Analysis</a:t>
            </a:r>
          </a:p>
        </p:txBody>
      </p:sp>
      <p:sp>
        <p:nvSpPr>
          <p:cNvPr id="17" name="TextBox 16"/>
          <p:cNvSpPr txBox="1"/>
          <p:nvPr/>
        </p:nvSpPr>
        <p:spPr>
          <a:xfrm>
            <a:off x="6217920" y="2286000"/>
            <a:ext cx="3108960" cy="731520"/>
          </a:xfrm>
          <a:prstGeom prst="rect">
            <a:avLst/>
          </a:prstGeom>
          <a:noFill/>
        </p:spPr>
        <p:txBody>
          <a:bodyPr wrap="square"/>
          <a:lstStyle/>
          <a:p>
            <a:pPr algn="ctr">
              <a:spcBef>
                <a:spcPts val="0"/>
              </a:spcBef>
              <a:spcAft>
                <a:spcPts val="0"/>
              </a:spcAft>
            </a:pPr>
            <a:r>
              <a:rPr sz="1300" b="0">
                <a:solidFill>
                  <a:srgbClr val="85858A"/>
                </a:solidFill>
                <a:latin typeface="Inter"/>
              </a:rPr>
              <a:t>SonarQube, Semgrep, ESLint
CodeQL, Snyk Code</a:t>
            </a:r>
          </a:p>
        </p:txBody>
      </p:sp>
      <p:sp>
        <p:nvSpPr>
          <p:cNvPr id="18" name="TextBox 17"/>
          <p:cNvSpPr txBox="1"/>
          <p:nvPr/>
        </p:nvSpPr>
        <p:spPr>
          <a:xfrm>
            <a:off x="2560320" y="4389120"/>
            <a:ext cx="3108960" cy="457200"/>
          </a:xfrm>
          <a:prstGeom prst="rect">
            <a:avLst/>
          </a:prstGeom>
          <a:noFill/>
        </p:spPr>
        <p:txBody>
          <a:bodyPr wrap="square"/>
          <a:lstStyle/>
          <a:p>
            <a:pPr algn="ctr">
              <a:spcBef>
                <a:spcPts val="0"/>
              </a:spcBef>
              <a:spcAft>
                <a:spcPts val="0"/>
              </a:spcAft>
            </a:pPr>
            <a:r>
              <a:rPr sz="1400" b="0">
                <a:solidFill>
                  <a:srgbClr val="2A2A2E"/>
                </a:solidFill>
                <a:latin typeface="Inter"/>
              </a:rPr>
              <a:t>[empty quadrant]</a:t>
            </a:r>
          </a:p>
        </p:txBody>
      </p:sp>
      <p:sp>
        <p:nvSpPr>
          <p:cNvPr id="19" name="TextBox 18"/>
          <p:cNvSpPr txBox="1"/>
          <p:nvPr/>
        </p:nvSpPr>
        <p:spPr>
          <a:xfrm>
            <a:off x="6217920" y="4023360"/>
            <a:ext cx="3108960" cy="457200"/>
          </a:xfrm>
          <a:prstGeom prst="rect">
            <a:avLst/>
          </a:prstGeom>
          <a:noFill/>
        </p:spPr>
        <p:txBody>
          <a:bodyPr wrap="square"/>
          <a:lstStyle/>
          <a:p>
            <a:pPr algn="ctr">
              <a:spcBef>
                <a:spcPts val="0"/>
              </a:spcBef>
              <a:spcAft>
                <a:spcPts val="0"/>
              </a:spcAft>
            </a:pPr>
            <a:r>
              <a:rPr sz="2000" b="0">
                <a:solidFill>
                  <a:srgbClr val="85858A"/>
                </a:solidFill>
                <a:latin typeface="Inter"/>
              </a:rPr>
              <a:t>AI Code Review</a:t>
            </a:r>
          </a:p>
        </p:txBody>
      </p:sp>
      <p:sp>
        <p:nvSpPr>
          <p:cNvPr id="20" name="TextBox 19"/>
          <p:cNvSpPr txBox="1"/>
          <p:nvPr/>
        </p:nvSpPr>
        <p:spPr>
          <a:xfrm>
            <a:off x="6217920" y="4572000"/>
            <a:ext cx="3108960" cy="731520"/>
          </a:xfrm>
          <a:prstGeom prst="rect">
            <a:avLst/>
          </a:prstGeom>
          <a:noFill/>
        </p:spPr>
        <p:txBody>
          <a:bodyPr wrap="square"/>
          <a:lstStyle/>
          <a:p>
            <a:pPr algn="ctr">
              <a:spcBef>
                <a:spcPts val="0"/>
              </a:spcBef>
              <a:spcAft>
                <a:spcPts val="0"/>
              </a:spcAft>
            </a:pPr>
            <a:r>
              <a:rPr sz="1300" b="0">
                <a:solidFill>
                  <a:srgbClr val="85858A"/>
                </a:solidFill>
                <a:latin typeface="Inter"/>
              </a:rPr>
              <a:t>CodeRabbit, Codacy AI
GitHub Copilot Review
AI Governance Platforms</a:t>
            </a:r>
          </a:p>
        </p:txBody>
      </p:sp>
      <p:sp>
        <p:nvSpPr>
          <p:cNvPr id="21" name="TextBox 20"/>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274320"/>
            <a:ext cx="10820095" cy="548640"/>
          </a:xfrm>
          <a:prstGeom prst="rect">
            <a:avLst/>
          </a:prstGeom>
          <a:noFill/>
        </p:spPr>
        <p:txBody>
          <a:bodyPr wrap="square"/>
          <a:lstStyle/>
          <a:p>
            <a:pPr algn="ctr">
              <a:spcBef>
                <a:spcPts val="0"/>
              </a:spcBef>
              <a:spcAft>
                <a:spcPts val="0"/>
              </a:spcAft>
            </a:pPr>
            <a:r>
              <a:rPr sz="3400" b="1">
                <a:solidFill>
                  <a:srgbClr val="EBEBEB"/>
                </a:solidFill>
                <a:latin typeface="JetBrains Mono"/>
              </a:rPr>
              <a:t>Land with developers. Expand with compliance.</a:t>
            </a:r>
          </a:p>
        </p:txBody>
      </p:sp>
      <p:sp>
        <p:nvSpPr>
          <p:cNvPr id="3" name="Rectangle 2"/>
          <p:cNvSpPr/>
          <p:nvPr/>
        </p:nvSpPr>
        <p:spPr>
          <a:xfrm>
            <a:off x="457200" y="1691640"/>
            <a:ext cx="2286000" cy="1097280"/>
          </a:xfrm>
          <a:prstGeom prst="rect">
            <a:avLst/>
          </a:prstGeom>
          <a:solidFill>
            <a:srgbClr val="141416"/>
          </a:solidFill>
          <a:ln w="25400">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0"/>
            <a:ext cx="1920240" cy="640080"/>
          </a:xfrm>
          <a:prstGeom prst="rect">
            <a:avLst/>
          </a:prstGeom>
          <a:noFill/>
        </p:spPr>
        <p:txBody>
          <a:bodyPr wrap="square"/>
          <a:lstStyle/>
          <a:p>
            <a:pPr algn="ctr">
              <a:spcBef>
                <a:spcPts val="0"/>
              </a:spcBef>
              <a:spcAft>
                <a:spcPts val="0"/>
              </a:spcAft>
            </a:pPr>
            <a:r>
              <a:rPr sz="1500" b="1">
                <a:solidFill>
                  <a:srgbClr val="EBEBEB"/>
                </a:solidFill>
                <a:latin typeface="JetBrains Mono"/>
              </a:rPr>
              <a:t>CLI Install</a:t>
            </a:r>
          </a:p>
        </p:txBody>
      </p:sp>
      <p:sp>
        <p:nvSpPr>
          <p:cNvPr id="5" name="TextBox 4"/>
          <p:cNvSpPr txBox="1"/>
          <p:nvPr/>
        </p:nvSpPr>
        <p:spPr>
          <a:xfrm>
            <a:off x="640080" y="2331720"/>
            <a:ext cx="1920240" cy="365760"/>
          </a:xfrm>
          <a:prstGeom prst="rect">
            <a:avLst/>
          </a:prstGeom>
          <a:noFill/>
        </p:spPr>
        <p:txBody>
          <a:bodyPr wrap="square"/>
          <a:lstStyle/>
          <a:p>
            <a:pPr algn="ctr">
              <a:spcBef>
                <a:spcPts val="0"/>
              </a:spcBef>
              <a:spcAft>
                <a:spcPts val="0"/>
              </a:spcAft>
            </a:pPr>
            <a:r>
              <a:rPr sz="1100" b="0">
                <a:solidFill>
                  <a:srgbClr val="85858A"/>
                </a:solidFill>
                <a:latin typeface="Inter"/>
              </a:rPr>
              <a:t>Free / community</a:t>
            </a:r>
          </a:p>
        </p:txBody>
      </p:sp>
      <p:cxnSp>
        <p:nvCxnSpPr>
          <p:cNvPr id="6" name="Connector 5"/>
          <p:cNvCxnSpPr/>
          <p:nvPr/>
        </p:nvCxnSpPr>
        <p:spPr>
          <a:xfrm>
            <a:off x="2761488" y="2240280"/>
            <a:ext cx="237744"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017520" y="1554480"/>
            <a:ext cx="2286000" cy="1371600"/>
          </a:xfrm>
          <a:prstGeom prst="rect">
            <a:avLst/>
          </a:prstGeom>
          <a:solidFill>
            <a:srgbClr val="141416"/>
          </a:solidFill>
          <a:ln w="25400">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1691640"/>
            <a:ext cx="1920240" cy="640080"/>
          </a:xfrm>
          <a:prstGeom prst="rect">
            <a:avLst/>
          </a:prstGeom>
          <a:noFill/>
        </p:spPr>
        <p:txBody>
          <a:bodyPr wrap="square"/>
          <a:lstStyle/>
          <a:p>
            <a:pPr algn="ctr">
              <a:spcBef>
                <a:spcPts val="0"/>
              </a:spcBef>
              <a:spcAft>
                <a:spcPts val="0"/>
              </a:spcAft>
            </a:pPr>
            <a:r>
              <a:rPr sz="1500" b="1">
                <a:solidFill>
                  <a:srgbClr val="EBEBEB"/>
                </a:solidFill>
                <a:latin typeface="JetBrains Mono"/>
              </a:rPr>
              <a:t>Team
Adoption</a:t>
            </a:r>
          </a:p>
        </p:txBody>
      </p:sp>
      <p:sp>
        <p:nvSpPr>
          <p:cNvPr id="9" name="TextBox 8"/>
          <p:cNvSpPr txBox="1"/>
          <p:nvPr/>
        </p:nvSpPr>
        <p:spPr>
          <a:xfrm>
            <a:off x="3200400" y="2468880"/>
            <a:ext cx="1920240" cy="365760"/>
          </a:xfrm>
          <a:prstGeom prst="rect">
            <a:avLst/>
          </a:prstGeom>
          <a:noFill/>
        </p:spPr>
        <p:txBody>
          <a:bodyPr wrap="square"/>
          <a:lstStyle/>
          <a:p>
            <a:pPr algn="ctr">
              <a:spcBef>
                <a:spcPts val="0"/>
              </a:spcBef>
              <a:spcAft>
                <a:spcPts val="0"/>
              </a:spcAft>
            </a:pPr>
            <a:r>
              <a:rPr sz="1100" b="0">
                <a:solidFill>
                  <a:srgbClr val="85858A"/>
                </a:solidFill>
                <a:latin typeface="Inter"/>
              </a:rPr>
              <a:t>Per-seat subscription</a:t>
            </a:r>
          </a:p>
        </p:txBody>
      </p:sp>
      <p:cxnSp>
        <p:nvCxnSpPr>
          <p:cNvPr id="10" name="Connector 9"/>
          <p:cNvCxnSpPr/>
          <p:nvPr/>
        </p:nvCxnSpPr>
        <p:spPr>
          <a:xfrm>
            <a:off x="5321808" y="2240280"/>
            <a:ext cx="237744"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577840" y="1417320"/>
            <a:ext cx="2286000" cy="1645920"/>
          </a:xfrm>
          <a:prstGeom prst="rect">
            <a:avLst/>
          </a:prstGeom>
          <a:solidFill>
            <a:srgbClr val="141416"/>
          </a:solidFill>
          <a:ln w="25400">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554480"/>
            <a:ext cx="1920240" cy="640080"/>
          </a:xfrm>
          <a:prstGeom prst="rect">
            <a:avLst/>
          </a:prstGeom>
          <a:noFill/>
        </p:spPr>
        <p:txBody>
          <a:bodyPr wrap="square"/>
          <a:lstStyle/>
          <a:p>
            <a:pPr algn="ctr">
              <a:spcBef>
                <a:spcPts val="0"/>
              </a:spcBef>
              <a:spcAft>
                <a:spcPts val="0"/>
              </a:spcAft>
            </a:pPr>
            <a:r>
              <a:rPr sz="1500" b="1">
                <a:solidFill>
                  <a:srgbClr val="EBEBEB"/>
                </a:solidFill>
                <a:latin typeface="JetBrains Mono"/>
              </a:rPr>
              <a:t>Enterprise
Policy</a:t>
            </a:r>
          </a:p>
        </p:txBody>
      </p:sp>
      <p:sp>
        <p:nvSpPr>
          <p:cNvPr id="13" name="TextBox 12"/>
          <p:cNvSpPr txBox="1"/>
          <p:nvPr/>
        </p:nvSpPr>
        <p:spPr>
          <a:xfrm>
            <a:off x="5760720" y="2606040"/>
            <a:ext cx="1920240" cy="365760"/>
          </a:xfrm>
          <a:prstGeom prst="rect">
            <a:avLst/>
          </a:prstGeom>
          <a:noFill/>
        </p:spPr>
        <p:txBody>
          <a:bodyPr wrap="square"/>
          <a:lstStyle/>
          <a:p>
            <a:pPr algn="ctr">
              <a:spcBef>
                <a:spcPts val="0"/>
              </a:spcBef>
              <a:spcAft>
                <a:spcPts val="0"/>
              </a:spcAft>
            </a:pPr>
            <a:r>
              <a:rPr sz="1100" b="0">
                <a:solidFill>
                  <a:srgbClr val="85858A"/>
                </a:solidFill>
                <a:latin typeface="Inter"/>
              </a:rPr>
              <a:t>Enterprise tier</a:t>
            </a:r>
          </a:p>
        </p:txBody>
      </p:sp>
      <p:cxnSp>
        <p:nvCxnSpPr>
          <p:cNvPr id="14" name="Connector 13"/>
          <p:cNvCxnSpPr/>
          <p:nvPr/>
        </p:nvCxnSpPr>
        <p:spPr>
          <a:xfrm>
            <a:off x="7882128" y="2240280"/>
            <a:ext cx="237744"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138160" y="1280160"/>
            <a:ext cx="2286000" cy="1920240"/>
          </a:xfrm>
          <a:prstGeom prst="rect">
            <a:avLst/>
          </a:prstGeom>
          <a:solidFill>
            <a:srgbClr val="141416"/>
          </a:solidFill>
          <a:ln w="254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417320"/>
            <a:ext cx="1920240" cy="640080"/>
          </a:xfrm>
          <a:prstGeom prst="rect">
            <a:avLst/>
          </a:prstGeom>
          <a:noFill/>
        </p:spPr>
        <p:txBody>
          <a:bodyPr wrap="square"/>
          <a:lstStyle/>
          <a:p>
            <a:pPr algn="ctr">
              <a:spcBef>
                <a:spcPts val="0"/>
              </a:spcBef>
              <a:spcAft>
                <a:spcPts val="0"/>
              </a:spcAft>
            </a:pPr>
            <a:r>
              <a:rPr sz="1500" b="1">
                <a:solidFill>
                  <a:srgbClr val="EBEBEB"/>
                </a:solidFill>
                <a:latin typeface="JetBrains Mono"/>
              </a:rPr>
              <a:t>Compliance
Packs</a:t>
            </a:r>
          </a:p>
        </p:txBody>
      </p:sp>
      <p:sp>
        <p:nvSpPr>
          <p:cNvPr id="17" name="TextBox 16"/>
          <p:cNvSpPr txBox="1"/>
          <p:nvPr/>
        </p:nvSpPr>
        <p:spPr>
          <a:xfrm>
            <a:off x="8321040" y="2743200"/>
            <a:ext cx="1920240" cy="365760"/>
          </a:xfrm>
          <a:prstGeom prst="rect">
            <a:avLst/>
          </a:prstGeom>
          <a:noFill/>
        </p:spPr>
        <p:txBody>
          <a:bodyPr wrap="square"/>
          <a:lstStyle/>
          <a:p>
            <a:pPr algn="ctr">
              <a:spcBef>
                <a:spcPts val="0"/>
              </a:spcBef>
              <a:spcAft>
                <a:spcPts val="0"/>
              </a:spcAft>
            </a:pPr>
            <a:r>
              <a:rPr sz="1100" b="0">
                <a:solidFill>
                  <a:srgbClr val="85858A"/>
                </a:solidFill>
                <a:latin typeface="Inter"/>
              </a:rPr>
              <a:t>Add-on revenue</a:t>
            </a:r>
          </a:p>
        </p:txBody>
      </p:sp>
      <p:sp>
        <p:nvSpPr>
          <p:cNvPr id="18" name="Rectangle 17"/>
          <p:cNvSpPr/>
          <p:nvPr/>
        </p:nvSpPr>
        <p:spPr>
          <a:xfrm>
            <a:off x="1188720" y="3657600"/>
            <a:ext cx="3291840" cy="2286000"/>
          </a:xfrm>
          <a:prstGeom prst="rect">
            <a:avLst/>
          </a:prstGeom>
          <a:solidFill>
            <a:srgbClr val="141416"/>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88720" y="3657600"/>
            <a:ext cx="3291840" cy="50800"/>
          </a:xfrm>
          <a:prstGeom prst="rect">
            <a:avLst/>
          </a:prstGeom>
          <a:solidFill>
            <a:srgbClr val="2A2A2E"/>
          </a:solidFill>
          <a:ln>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3794760"/>
            <a:ext cx="2926080" cy="365760"/>
          </a:xfrm>
          <a:prstGeom prst="rect">
            <a:avLst/>
          </a:prstGeom>
          <a:noFill/>
        </p:spPr>
        <p:txBody>
          <a:bodyPr wrap="square"/>
          <a:lstStyle/>
          <a:p>
            <a:pPr algn="l">
              <a:spcBef>
                <a:spcPts val="0"/>
              </a:spcBef>
              <a:spcAft>
                <a:spcPts val="0"/>
              </a:spcAft>
            </a:pPr>
            <a:r>
              <a:rPr sz="1600" b="1">
                <a:solidFill>
                  <a:srgbClr val="2A2A2E"/>
                </a:solidFill>
                <a:latin typeface="JetBrains Mono"/>
              </a:rPr>
              <a:t>Community</a:t>
            </a:r>
          </a:p>
        </p:txBody>
      </p:sp>
      <p:sp>
        <p:nvSpPr>
          <p:cNvPr id="21" name="TextBox 20"/>
          <p:cNvSpPr txBox="1"/>
          <p:nvPr/>
        </p:nvSpPr>
        <p:spPr>
          <a:xfrm>
            <a:off x="1371600" y="4114800"/>
            <a:ext cx="2926080" cy="274320"/>
          </a:xfrm>
          <a:prstGeom prst="rect">
            <a:avLst/>
          </a:prstGeom>
          <a:noFill/>
        </p:spPr>
        <p:txBody>
          <a:bodyPr wrap="square"/>
          <a:lstStyle/>
          <a:p>
            <a:pPr algn="l">
              <a:spcBef>
                <a:spcPts val="0"/>
              </a:spcBef>
              <a:spcAft>
                <a:spcPts val="0"/>
              </a:spcAft>
            </a:pPr>
            <a:r>
              <a:rPr sz="1100" b="0">
                <a:solidFill>
                  <a:srgbClr val="85858A"/>
                </a:solidFill>
                <a:latin typeface="Inter"/>
              </a:rPr>
              <a:t>Open source core</a:t>
            </a:r>
          </a:p>
        </p:txBody>
      </p:sp>
      <p:sp>
        <p:nvSpPr>
          <p:cNvPr id="22" name="TextBox 21"/>
          <p:cNvSpPr txBox="1"/>
          <p:nvPr/>
        </p:nvSpPr>
        <p:spPr>
          <a:xfrm>
            <a:off x="1371600" y="4434840"/>
            <a:ext cx="2926080" cy="1371600"/>
          </a:xfrm>
          <a:prstGeom prst="rect">
            <a:avLst/>
          </a:prstGeom>
          <a:noFill/>
        </p:spPr>
        <p:txBody>
          <a:bodyPr wrap="square"/>
          <a:lstStyle/>
          <a:p>
            <a:pPr algn="l">
              <a:spcBef>
                <a:spcPts val="400"/>
              </a:spcBef>
              <a:spcAft>
                <a:spcPts val="400"/>
              </a:spcAft>
            </a:pPr>
            <a:r>
              <a:rPr sz="1100" b="0">
                <a:solidFill>
                  <a:srgbClr val="EBEBEB"/>
                </a:solidFill>
                <a:latin typeface="Inter"/>
              </a:rPr>
              <a:t>CLI governance engine</a:t>
            </a:r>
          </a:p>
          <a:p>
            <a:pPr algn="l">
              <a:spcBef>
                <a:spcPts val="400"/>
              </a:spcBef>
              <a:spcAft>
                <a:spcPts val="400"/>
              </a:spcAft>
            </a:pPr>
            <a:r>
              <a:rPr sz="1100" b="0">
                <a:solidFill>
                  <a:srgbClr val="EBEBEB"/>
                </a:solidFill>
                <a:latin typeface="Inter"/>
              </a:rPr>
              <a:t>Core policy checks</a:t>
            </a:r>
          </a:p>
          <a:p>
            <a:pPr algn="l">
              <a:spcBef>
                <a:spcPts val="400"/>
              </a:spcBef>
              <a:spcAft>
                <a:spcPts val="400"/>
              </a:spcAft>
            </a:pPr>
            <a:r>
              <a:rPr sz="1100" b="0">
                <a:solidFill>
                  <a:srgbClr val="EBEBEB"/>
                </a:solidFill>
                <a:latin typeface="Inter"/>
              </a:rPr>
              <a:t>Local architecture graph</a:t>
            </a:r>
          </a:p>
        </p:txBody>
      </p:sp>
      <p:sp>
        <p:nvSpPr>
          <p:cNvPr id="23" name="Rectangle 22"/>
          <p:cNvSpPr/>
          <p:nvPr/>
        </p:nvSpPr>
        <p:spPr>
          <a:xfrm>
            <a:off x="4846320" y="3657600"/>
            <a:ext cx="3291840" cy="2286000"/>
          </a:xfrm>
          <a:prstGeom prst="rect">
            <a:avLst/>
          </a:prstGeom>
          <a:solidFill>
            <a:srgbClr val="141416"/>
          </a:solidFill>
          <a:ln w="25400">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46320" y="3657600"/>
            <a:ext cx="3291840" cy="5080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3794760"/>
            <a:ext cx="2926080" cy="365760"/>
          </a:xfrm>
          <a:prstGeom prst="rect">
            <a:avLst/>
          </a:prstGeom>
          <a:noFill/>
        </p:spPr>
        <p:txBody>
          <a:bodyPr wrap="square"/>
          <a:lstStyle/>
          <a:p>
            <a:pPr algn="l">
              <a:spcBef>
                <a:spcPts val="0"/>
              </a:spcBef>
              <a:spcAft>
                <a:spcPts val="0"/>
              </a:spcAft>
            </a:pPr>
            <a:r>
              <a:rPr sz="1600" b="1">
                <a:solidFill>
                  <a:srgbClr val="CC5500"/>
                </a:solidFill>
                <a:latin typeface="JetBrains Mono"/>
              </a:rPr>
              <a:t>Team</a:t>
            </a:r>
          </a:p>
        </p:txBody>
      </p:sp>
      <p:sp>
        <p:nvSpPr>
          <p:cNvPr id="26" name="TextBox 25"/>
          <p:cNvSpPr txBox="1"/>
          <p:nvPr/>
        </p:nvSpPr>
        <p:spPr>
          <a:xfrm>
            <a:off x="5029200" y="4114800"/>
            <a:ext cx="2926080" cy="274320"/>
          </a:xfrm>
          <a:prstGeom prst="rect">
            <a:avLst/>
          </a:prstGeom>
          <a:noFill/>
        </p:spPr>
        <p:txBody>
          <a:bodyPr wrap="square"/>
          <a:lstStyle/>
          <a:p>
            <a:pPr algn="l">
              <a:spcBef>
                <a:spcPts val="0"/>
              </a:spcBef>
              <a:spcAft>
                <a:spcPts val="0"/>
              </a:spcAft>
            </a:pPr>
            <a:r>
              <a:rPr sz="1100" b="0">
                <a:solidFill>
                  <a:srgbClr val="85858A"/>
                </a:solidFill>
                <a:latin typeface="Inter"/>
              </a:rPr>
              <a:t>Per-seat pricing</a:t>
            </a:r>
          </a:p>
        </p:txBody>
      </p:sp>
      <p:sp>
        <p:nvSpPr>
          <p:cNvPr id="27" name="TextBox 26"/>
          <p:cNvSpPr txBox="1"/>
          <p:nvPr/>
        </p:nvSpPr>
        <p:spPr>
          <a:xfrm>
            <a:off x="5029200" y="4434840"/>
            <a:ext cx="2926080" cy="1371600"/>
          </a:xfrm>
          <a:prstGeom prst="rect">
            <a:avLst/>
          </a:prstGeom>
          <a:noFill/>
        </p:spPr>
        <p:txBody>
          <a:bodyPr wrap="square"/>
          <a:lstStyle/>
          <a:p>
            <a:pPr algn="l">
              <a:spcBef>
                <a:spcPts val="400"/>
              </a:spcBef>
              <a:spcAft>
                <a:spcPts val="400"/>
              </a:spcAft>
            </a:pPr>
            <a:r>
              <a:rPr sz="1100" b="0">
                <a:solidFill>
                  <a:srgbClr val="EBEBEB"/>
                </a:solidFill>
                <a:latin typeface="Inter"/>
              </a:rPr>
              <a:t>Everything in Community</a:t>
            </a:r>
          </a:p>
          <a:p>
            <a:pPr algn="l">
              <a:spcBef>
                <a:spcPts val="400"/>
              </a:spcBef>
              <a:spcAft>
                <a:spcPts val="400"/>
              </a:spcAft>
            </a:pPr>
            <a:r>
              <a:rPr sz="1100" b="0">
                <a:solidFill>
                  <a:srgbClr val="EBEBEB"/>
                </a:solidFill>
                <a:latin typeface="Inter"/>
              </a:rPr>
              <a:t>Policy packs (SOC 2, HIPAA)</a:t>
            </a:r>
          </a:p>
          <a:p>
            <a:pPr algn="l">
              <a:spcBef>
                <a:spcPts val="400"/>
              </a:spcBef>
              <a:spcAft>
                <a:spcPts val="400"/>
              </a:spcAft>
            </a:pPr>
            <a:r>
              <a:rPr sz="1100" b="0">
                <a:solidFill>
                  <a:srgbClr val="EBEBEB"/>
                </a:solidFill>
                <a:latin typeface="Inter"/>
              </a:rPr>
              <a:t>Team policy management</a:t>
            </a:r>
          </a:p>
          <a:p>
            <a:pPr algn="l">
              <a:spcBef>
                <a:spcPts val="400"/>
              </a:spcBef>
              <a:spcAft>
                <a:spcPts val="400"/>
              </a:spcAft>
            </a:pPr>
            <a:r>
              <a:rPr sz="1100" b="0">
                <a:solidFill>
                  <a:srgbClr val="EBEBEB"/>
                </a:solidFill>
                <a:latin typeface="Inter"/>
              </a:rPr>
              <a:t>Shared baselines</a:t>
            </a:r>
          </a:p>
        </p:txBody>
      </p:sp>
      <p:sp>
        <p:nvSpPr>
          <p:cNvPr id="28" name="Rectangle 27"/>
          <p:cNvSpPr/>
          <p:nvPr/>
        </p:nvSpPr>
        <p:spPr>
          <a:xfrm>
            <a:off x="8503920" y="3657600"/>
            <a:ext cx="3291840" cy="2286000"/>
          </a:xfrm>
          <a:prstGeom prst="rect">
            <a:avLst/>
          </a:prstGeom>
          <a:solidFill>
            <a:srgbClr val="141416"/>
          </a:solidFill>
          <a:ln w="2540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03920" y="3657600"/>
            <a:ext cx="3291840" cy="50800"/>
          </a:xfrm>
          <a:prstGeom prst="rect">
            <a:avLst/>
          </a:prstGeom>
          <a:solidFill>
            <a:srgbClr val="2E8B57"/>
          </a:solidFill>
          <a:ln>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0" y="3794760"/>
            <a:ext cx="2926080" cy="365760"/>
          </a:xfrm>
          <a:prstGeom prst="rect">
            <a:avLst/>
          </a:prstGeom>
          <a:noFill/>
        </p:spPr>
        <p:txBody>
          <a:bodyPr wrap="square"/>
          <a:lstStyle/>
          <a:p>
            <a:pPr algn="l">
              <a:spcBef>
                <a:spcPts val="0"/>
              </a:spcBef>
              <a:spcAft>
                <a:spcPts val="0"/>
              </a:spcAft>
            </a:pPr>
            <a:r>
              <a:rPr sz="1600" b="1">
                <a:solidFill>
                  <a:srgbClr val="2E8B57"/>
                </a:solidFill>
                <a:latin typeface="JetBrains Mono"/>
              </a:rPr>
              <a:t>Enterprise</a:t>
            </a:r>
          </a:p>
        </p:txBody>
      </p:sp>
      <p:sp>
        <p:nvSpPr>
          <p:cNvPr id="31" name="TextBox 30"/>
          <p:cNvSpPr txBox="1"/>
          <p:nvPr/>
        </p:nvSpPr>
        <p:spPr>
          <a:xfrm>
            <a:off x="8686800" y="4114800"/>
            <a:ext cx="2926080" cy="274320"/>
          </a:xfrm>
          <a:prstGeom prst="rect">
            <a:avLst/>
          </a:prstGeom>
          <a:noFill/>
        </p:spPr>
        <p:txBody>
          <a:bodyPr wrap="square"/>
          <a:lstStyle/>
          <a:p>
            <a:pPr algn="l">
              <a:spcBef>
                <a:spcPts val="0"/>
              </a:spcBef>
              <a:spcAft>
                <a:spcPts val="0"/>
              </a:spcAft>
            </a:pPr>
            <a:r>
              <a:rPr sz="1100" b="0">
                <a:solidFill>
                  <a:srgbClr val="85858A"/>
                </a:solidFill>
                <a:latin typeface="Inter"/>
              </a:rPr>
              <a:t>Custom pricing</a:t>
            </a:r>
          </a:p>
        </p:txBody>
      </p:sp>
      <p:sp>
        <p:nvSpPr>
          <p:cNvPr id="32" name="TextBox 31"/>
          <p:cNvSpPr txBox="1"/>
          <p:nvPr/>
        </p:nvSpPr>
        <p:spPr>
          <a:xfrm>
            <a:off x="8686800" y="4434840"/>
            <a:ext cx="2926080" cy="1371600"/>
          </a:xfrm>
          <a:prstGeom prst="rect">
            <a:avLst/>
          </a:prstGeom>
          <a:noFill/>
        </p:spPr>
        <p:txBody>
          <a:bodyPr wrap="square"/>
          <a:lstStyle/>
          <a:p>
            <a:pPr algn="l">
              <a:spcBef>
                <a:spcPts val="400"/>
              </a:spcBef>
              <a:spcAft>
                <a:spcPts val="400"/>
              </a:spcAft>
            </a:pPr>
            <a:r>
              <a:rPr sz="1100" b="0">
                <a:solidFill>
                  <a:srgbClr val="EBEBEB"/>
                </a:solidFill>
                <a:latin typeface="Inter"/>
              </a:rPr>
              <a:t>Everything in Team</a:t>
            </a:r>
          </a:p>
          <a:p>
            <a:pPr algn="l">
              <a:spcBef>
                <a:spcPts val="400"/>
              </a:spcBef>
              <a:spcAft>
                <a:spcPts val="400"/>
              </a:spcAft>
            </a:pPr>
            <a:r>
              <a:rPr sz="1100" b="0">
                <a:solidFill>
                  <a:srgbClr val="EBEBEB"/>
                </a:solidFill>
                <a:latin typeface="Inter"/>
              </a:rPr>
              <a:t>Centralised policy mgmt</a:t>
            </a:r>
          </a:p>
          <a:p>
            <a:pPr algn="l">
              <a:spcBef>
                <a:spcPts val="400"/>
              </a:spcBef>
              <a:spcAft>
                <a:spcPts val="400"/>
              </a:spcAft>
            </a:pPr>
            <a:r>
              <a:rPr sz="1100" b="0">
                <a:solidFill>
                  <a:srgbClr val="EBEBEB"/>
                </a:solidFill>
                <a:latin typeface="Inter"/>
              </a:rPr>
              <a:t>Audit dashboards + SSO</a:t>
            </a:r>
          </a:p>
          <a:p>
            <a:pPr algn="l">
              <a:spcBef>
                <a:spcPts val="400"/>
              </a:spcBef>
              <a:spcAft>
                <a:spcPts val="400"/>
              </a:spcAft>
            </a:pPr>
            <a:r>
              <a:rPr sz="1100" b="0">
                <a:solidFill>
                  <a:srgbClr val="EBEBEB"/>
                </a:solidFill>
                <a:latin typeface="Inter"/>
              </a:rPr>
              <a:t>Compliance reporting</a:t>
            </a:r>
          </a:p>
        </p:txBody>
      </p:sp>
      <p:sp>
        <p:nvSpPr>
          <p:cNvPr id="33" name="TextBox 32"/>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274320"/>
            <a:ext cx="10820095" cy="548640"/>
          </a:xfrm>
          <a:prstGeom prst="rect">
            <a:avLst/>
          </a:prstGeom>
          <a:noFill/>
        </p:spPr>
        <p:txBody>
          <a:bodyPr wrap="square"/>
          <a:lstStyle/>
          <a:p>
            <a:pPr algn="ctr">
              <a:spcBef>
                <a:spcPts val="0"/>
              </a:spcBef>
              <a:spcAft>
                <a:spcPts val="0"/>
              </a:spcAft>
            </a:pPr>
            <a:r>
              <a:rPr sz="3600" b="1">
                <a:solidFill>
                  <a:srgbClr val="EBEBEB"/>
                </a:solidFill>
                <a:latin typeface="JetBrains Mono"/>
              </a:rPr>
              <a:t>Built what others are pitching</a:t>
            </a:r>
          </a:p>
        </p:txBody>
      </p:sp>
      <p:sp>
        <p:nvSpPr>
          <p:cNvPr id="3" name="Rectangle 2"/>
          <p:cNvSpPr/>
          <p:nvPr/>
        </p:nvSpPr>
        <p:spPr>
          <a:xfrm>
            <a:off x="777240" y="1097280"/>
            <a:ext cx="3291840" cy="3200400"/>
          </a:xfrm>
          <a:prstGeom prst="rect">
            <a:avLst/>
          </a:prstGeom>
          <a:solidFill>
            <a:srgbClr val="141416"/>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097280"/>
            <a:ext cx="3291840" cy="38100"/>
          </a:xfrm>
          <a:prstGeom prst="rect">
            <a:avLst/>
          </a:prstGeom>
          <a:solidFill>
            <a:srgbClr val="2E8B57"/>
          </a:solidFill>
          <a:ln>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280160"/>
            <a:ext cx="2926080" cy="365760"/>
          </a:xfrm>
          <a:prstGeom prst="rect">
            <a:avLst/>
          </a:prstGeom>
          <a:noFill/>
        </p:spPr>
        <p:txBody>
          <a:bodyPr wrap="square"/>
          <a:lstStyle/>
          <a:p>
            <a:pPr algn="l">
              <a:spcBef>
                <a:spcPts val="0"/>
              </a:spcBef>
              <a:spcAft>
                <a:spcPts val="0"/>
              </a:spcAft>
            </a:pPr>
            <a:r>
              <a:rPr sz="1300" b="1">
                <a:solidFill>
                  <a:srgbClr val="85858A"/>
                </a:solidFill>
                <a:latin typeface="JetBrains Mono"/>
              </a:rPr>
              <a:t>BUILT TODAY</a:t>
            </a:r>
          </a:p>
        </p:txBody>
      </p:sp>
      <p:sp>
        <p:nvSpPr>
          <p:cNvPr id="6" name="TextBox 5"/>
          <p:cNvSpPr txBox="1"/>
          <p:nvPr/>
        </p:nvSpPr>
        <p:spPr>
          <a:xfrm>
            <a:off x="960120" y="1737360"/>
            <a:ext cx="2926080" cy="2286000"/>
          </a:xfrm>
          <a:prstGeom prst="rect">
            <a:avLst/>
          </a:prstGeom>
          <a:noFill/>
        </p:spPr>
        <p:txBody>
          <a:bodyPr wrap="square"/>
          <a:lstStyle/>
          <a:p>
            <a:pPr algn="l">
              <a:spcBef>
                <a:spcPts val="400"/>
              </a:spcBef>
              <a:spcAft>
                <a:spcPts val="400"/>
              </a:spcAft>
            </a:pPr>
            <a:r>
              <a:rPr sz="1400" b="1">
                <a:solidFill>
                  <a:srgbClr val="2E8B57"/>
                </a:solidFill>
                <a:latin typeface="JetBrains Mono"/>
              </a:rPr>
              <a:t>✓ </a:t>
            </a:r>
            <a:r>
              <a:rPr sz="1400" b="0">
                <a:solidFill>
                  <a:srgbClr val="EBEBEB"/>
                </a:solidFill>
                <a:latin typeface="Inter"/>
              </a:rPr>
              <a:t>Production Rust kernel (6 crates)</a:t>
            </a:r>
          </a:p>
          <a:p>
            <a:pPr algn="l">
              <a:spcBef>
                <a:spcPts val="400"/>
              </a:spcBef>
              <a:spcAft>
                <a:spcPts val="400"/>
              </a:spcAft>
            </a:pPr>
            <a:r>
              <a:rPr sz="1400" b="1">
                <a:solidFill>
                  <a:srgbClr val="2E8B57"/>
                </a:solidFill>
                <a:latin typeface="JetBrains Mono"/>
              </a:rPr>
              <a:t>✓ </a:t>
            </a:r>
            <a:r>
              <a:rPr sz="1400" b="0">
                <a:solidFill>
                  <a:srgbClr val="EBEBEB"/>
                </a:solidFill>
                <a:latin typeface="Inter"/>
              </a:rPr>
              <a:t>50ms deterministic checks</a:t>
            </a:r>
          </a:p>
          <a:p>
            <a:pPr algn="l">
              <a:spcBef>
                <a:spcPts val="400"/>
              </a:spcBef>
              <a:spcAft>
                <a:spcPts val="400"/>
              </a:spcAft>
            </a:pPr>
            <a:r>
              <a:rPr sz="1400" b="1">
                <a:solidFill>
                  <a:srgbClr val="2E8B57"/>
                </a:solidFill>
                <a:latin typeface="JetBrains Mono"/>
              </a:rPr>
              <a:t>✓ </a:t>
            </a:r>
            <a:r>
              <a:rPr sz="1400" b="0">
                <a:solidFill>
                  <a:srgbClr val="EBEBEB"/>
                </a:solidFill>
                <a:latin typeface="Inter"/>
              </a:rPr>
              <a:t>OPA/Rego policy engine</a:t>
            </a:r>
          </a:p>
          <a:p>
            <a:pPr algn="l">
              <a:spcBef>
                <a:spcPts val="400"/>
              </a:spcBef>
              <a:spcAft>
                <a:spcPts val="400"/>
              </a:spcAft>
            </a:pPr>
            <a:r>
              <a:rPr sz="1400" b="1">
                <a:solidFill>
                  <a:srgbClr val="2E8B57"/>
                </a:solidFill>
                <a:latin typeface="JetBrains Mono"/>
              </a:rPr>
              <a:t>✓ </a:t>
            </a:r>
            <a:r>
              <a:rPr sz="1400" b="0">
                <a:solidFill>
                  <a:srgbClr val="EBEBEB"/>
                </a:solidFill>
                <a:latin typeface="Inter"/>
              </a:rPr>
              <a:t>Line-level authorship attribution</a:t>
            </a:r>
          </a:p>
          <a:p>
            <a:pPr algn="l">
              <a:spcBef>
                <a:spcPts val="400"/>
              </a:spcBef>
              <a:spcAft>
                <a:spcPts val="400"/>
              </a:spcAft>
            </a:pPr>
            <a:r>
              <a:rPr sz="1400" b="1">
                <a:solidFill>
                  <a:srgbClr val="2E8B57"/>
                </a:solidFill>
                <a:latin typeface="JetBrains Mono"/>
              </a:rPr>
              <a:t>✓ </a:t>
            </a:r>
            <a:r>
              <a:rPr sz="1400" b="0">
                <a:solidFill>
                  <a:srgbClr val="EBEBEB"/>
                </a:solidFill>
                <a:latin typeface="Inter"/>
              </a:rPr>
              <a:t>Semantic graph + drift detection</a:t>
            </a:r>
          </a:p>
        </p:txBody>
      </p:sp>
      <p:sp>
        <p:nvSpPr>
          <p:cNvPr id="7" name="Rectangle 6"/>
          <p:cNvSpPr/>
          <p:nvPr/>
        </p:nvSpPr>
        <p:spPr>
          <a:xfrm>
            <a:off x="4389120" y="1097280"/>
            <a:ext cx="3291840" cy="3200400"/>
          </a:xfrm>
          <a:prstGeom prst="rect">
            <a:avLst/>
          </a:prstGeom>
          <a:solidFill>
            <a:srgbClr val="141416"/>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1097280"/>
            <a:ext cx="3291840" cy="3810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280160"/>
            <a:ext cx="2926080" cy="365760"/>
          </a:xfrm>
          <a:prstGeom prst="rect">
            <a:avLst/>
          </a:prstGeom>
          <a:noFill/>
        </p:spPr>
        <p:txBody>
          <a:bodyPr wrap="square"/>
          <a:lstStyle/>
          <a:p>
            <a:pPr algn="l">
              <a:spcBef>
                <a:spcPts val="0"/>
              </a:spcBef>
              <a:spcAft>
                <a:spcPts val="0"/>
              </a:spcAft>
            </a:pPr>
            <a:r>
              <a:rPr sz="1300" b="1">
                <a:solidFill>
                  <a:srgbClr val="85858A"/>
                </a:solidFill>
                <a:latin typeface="JetBrains Mono"/>
              </a:rPr>
              <a:t>LAUNCH TRAJECTORY</a:t>
            </a:r>
          </a:p>
        </p:txBody>
      </p:sp>
      <p:sp>
        <p:nvSpPr>
          <p:cNvPr id="10" name="TextBox 9"/>
          <p:cNvSpPr txBox="1"/>
          <p:nvPr/>
        </p:nvSpPr>
        <p:spPr>
          <a:xfrm>
            <a:off x="4572000" y="1737360"/>
            <a:ext cx="2926080" cy="2286000"/>
          </a:xfrm>
          <a:prstGeom prst="rect">
            <a:avLst/>
          </a:prstGeom>
          <a:noFill/>
        </p:spPr>
        <p:txBody>
          <a:bodyPr wrap="square"/>
          <a:lstStyle/>
          <a:p>
            <a:pPr algn="l">
              <a:spcBef>
                <a:spcPts val="400"/>
              </a:spcBef>
              <a:spcAft>
                <a:spcPts val="400"/>
              </a:spcAft>
            </a:pPr>
            <a:r>
              <a:rPr sz="1400" b="1">
                <a:solidFill>
                  <a:srgbClr val="CC5500"/>
                </a:solidFill>
                <a:latin typeface="JetBrains Mono"/>
              </a:rPr>
              <a:t>→ </a:t>
            </a:r>
            <a:r>
              <a:rPr sz="1400" b="0">
                <a:solidFill>
                  <a:srgbClr val="EBEBEB"/>
                </a:solidFill>
                <a:latin typeface="Inter"/>
              </a:rPr>
              <a:t>5,000+ waitlist target</a:t>
            </a:r>
          </a:p>
          <a:p>
            <a:pPr algn="l">
              <a:spcBef>
                <a:spcPts val="400"/>
              </a:spcBef>
              <a:spcAft>
                <a:spcPts val="400"/>
              </a:spcAft>
            </a:pPr>
            <a:r>
              <a:rPr sz="1400" b="1">
                <a:solidFill>
                  <a:srgbClr val="CC5500"/>
                </a:solidFill>
                <a:latin typeface="JetBrains Mono"/>
              </a:rPr>
              <a:t>→ </a:t>
            </a:r>
            <a:r>
              <a:rPr sz="1400" b="0">
                <a:solidFill>
                  <a:srgbClr val="EBEBEB"/>
                </a:solidFill>
                <a:latin typeface="Inter"/>
              </a:rPr>
              <a:t>10–15 pilot teams (5 engaged)</a:t>
            </a:r>
          </a:p>
          <a:p>
            <a:pPr algn="l">
              <a:spcBef>
                <a:spcPts val="400"/>
              </a:spcBef>
              <a:spcAft>
                <a:spcPts val="400"/>
              </a:spcAft>
            </a:pPr>
            <a:r>
              <a:rPr sz="1400" b="1">
                <a:solidFill>
                  <a:srgbClr val="CC5500"/>
                </a:solidFill>
                <a:latin typeface="JetBrains Mono"/>
              </a:rPr>
              <a:t>→ </a:t>
            </a:r>
            <a:r>
              <a:rPr sz="1400" b="0">
                <a:solidFill>
                  <a:srgbClr val="EBEBEB"/>
                </a:solidFill>
                <a:latin typeface="Inter"/>
              </a:rPr>
              <a:t>Enterprise pipeline via Arkahna</a:t>
            </a:r>
          </a:p>
          <a:p>
            <a:pPr algn="l">
              <a:spcBef>
                <a:spcPts val="400"/>
              </a:spcBef>
              <a:spcAft>
                <a:spcPts val="400"/>
              </a:spcAft>
            </a:pPr>
            <a:r>
              <a:rPr sz="1400" b="1">
                <a:solidFill>
                  <a:srgbClr val="CC5500"/>
                </a:solidFill>
                <a:latin typeface="JetBrains Mono"/>
              </a:rPr>
              <a:t>→ </a:t>
            </a:r>
            <a:r>
              <a:rPr sz="1400" b="0">
                <a:solidFill>
                  <a:srgbClr val="EBEBEB"/>
                </a:solidFill>
                <a:latin typeface="Inter"/>
              </a:rPr>
              <a:t>Developer influencer demos</a:t>
            </a:r>
          </a:p>
        </p:txBody>
      </p:sp>
      <p:sp>
        <p:nvSpPr>
          <p:cNvPr id="11" name="Rectangle 10"/>
          <p:cNvSpPr/>
          <p:nvPr/>
        </p:nvSpPr>
        <p:spPr>
          <a:xfrm>
            <a:off x="8001000" y="1097280"/>
            <a:ext cx="3291840" cy="3200400"/>
          </a:xfrm>
          <a:prstGeom prst="rect">
            <a:avLst/>
          </a:prstGeom>
          <a:solidFill>
            <a:srgbClr val="141416"/>
          </a:solidFill>
          <a:ln w="254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01000" y="1097280"/>
            <a:ext cx="3291840" cy="3810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280160"/>
            <a:ext cx="2926080" cy="365760"/>
          </a:xfrm>
          <a:prstGeom prst="rect">
            <a:avLst/>
          </a:prstGeom>
          <a:noFill/>
        </p:spPr>
        <p:txBody>
          <a:bodyPr wrap="square"/>
          <a:lstStyle/>
          <a:p>
            <a:pPr algn="l">
              <a:spcBef>
                <a:spcPts val="0"/>
              </a:spcBef>
              <a:spcAft>
                <a:spcPts val="0"/>
              </a:spcAft>
            </a:pPr>
            <a:r>
              <a:rPr sz="1300" b="1">
                <a:solidFill>
                  <a:srgbClr val="85858A"/>
                </a:solidFill>
                <a:latin typeface="JetBrains Mono"/>
              </a:rPr>
              <a:t>ECOSYSTEM</a:t>
            </a:r>
          </a:p>
        </p:txBody>
      </p:sp>
      <p:sp>
        <p:nvSpPr>
          <p:cNvPr id="14" name="TextBox 13"/>
          <p:cNvSpPr txBox="1"/>
          <p:nvPr/>
        </p:nvSpPr>
        <p:spPr>
          <a:xfrm>
            <a:off x="8183880" y="1737360"/>
            <a:ext cx="2926080" cy="2286000"/>
          </a:xfrm>
          <a:prstGeom prst="rect">
            <a:avLst/>
          </a:prstGeom>
          <a:noFill/>
        </p:spPr>
        <p:txBody>
          <a:bodyPr wrap="square"/>
          <a:lstStyle/>
          <a:p>
            <a:pPr algn="l">
              <a:spcBef>
                <a:spcPts val="400"/>
              </a:spcBef>
              <a:spcAft>
                <a:spcPts val="400"/>
              </a:spcAft>
            </a:pPr>
            <a:r>
              <a:rPr sz="1400" b="1">
                <a:solidFill>
                  <a:srgbClr val="CC5500"/>
                </a:solidFill>
                <a:latin typeface="JetBrains Mono"/>
              </a:rPr>
              <a:t>→ </a:t>
            </a:r>
            <a:r>
              <a:rPr sz="1400" b="0">
                <a:solidFill>
                  <a:srgbClr val="EBEBEB"/>
                </a:solidFill>
                <a:latin typeface="Inter"/>
              </a:rPr>
              <a:t>2 open source packages released</a:t>
            </a:r>
          </a:p>
          <a:p>
            <a:pPr algn="l">
              <a:spcBef>
                <a:spcPts val="400"/>
              </a:spcBef>
              <a:spcAft>
                <a:spcPts val="400"/>
              </a:spcAft>
            </a:pPr>
            <a:r>
              <a:rPr sz="1400" b="1">
                <a:solidFill>
                  <a:srgbClr val="CC5500"/>
                </a:solidFill>
                <a:latin typeface="JetBrains Mono"/>
              </a:rPr>
              <a:t>→ </a:t>
            </a:r>
            <a:r>
              <a:rPr sz="1400" b="0">
                <a:solidFill>
                  <a:srgbClr val="EBEBEB"/>
                </a:solidFill>
                <a:latin typeface="Inter"/>
              </a:rPr>
              <a:t>Community building in progress</a:t>
            </a:r>
          </a:p>
          <a:p>
            <a:pPr algn="l">
              <a:spcBef>
                <a:spcPts val="400"/>
              </a:spcBef>
              <a:spcAft>
                <a:spcPts val="400"/>
              </a:spcAft>
            </a:pPr>
            <a:r>
              <a:rPr sz="1400" b="1">
                <a:solidFill>
                  <a:srgbClr val="CC5500"/>
                </a:solidFill>
                <a:latin typeface="JetBrains Mono"/>
              </a:rPr>
              <a:t>→ </a:t>
            </a:r>
            <a:r>
              <a:rPr sz="1400" b="0">
                <a:solidFill>
                  <a:srgbClr val="EBEBEB"/>
                </a:solidFill>
                <a:latin typeface="Inter"/>
              </a:rPr>
              <a:t>IDE + CI/CD integrations planned</a:t>
            </a:r>
          </a:p>
        </p:txBody>
      </p:sp>
      <p:sp>
        <p:nvSpPr>
          <p:cNvPr id="15" name="Rectangle 14"/>
          <p:cNvSpPr/>
          <p:nvPr/>
        </p:nvSpPr>
        <p:spPr>
          <a:xfrm>
            <a:off x="777240" y="4572000"/>
            <a:ext cx="10515600" cy="10972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572000"/>
            <a:ext cx="50800" cy="109728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709160"/>
            <a:ext cx="9966960" cy="457200"/>
          </a:xfrm>
          <a:prstGeom prst="rect">
            <a:avLst/>
          </a:prstGeom>
          <a:noFill/>
        </p:spPr>
        <p:txBody>
          <a:bodyPr wrap="square"/>
          <a:lstStyle/>
          <a:p>
            <a:pPr algn="ctr">
              <a:spcBef>
                <a:spcPts val="0"/>
              </a:spcBef>
              <a:spcAft>
                <a:spcPts val="0"/>
              </a:spcAft>
            </a:pPr>
            <a:r>
              <a:rPr sz="2400" b="1">
                <a:solidFill>
                  <a:srgbClr val="CC5500"/>
                </a:solidFill>
                <a:latin typeface="JetBrains Mono"/>
              </a:rPr>
              <a:t>Not vibe-coded. Precision-engineered.</a:t>
            </a:r>
          </a:p>
        </p:txBody>
      </p:sp>
      <p:sp>
        <p:nvSpPr>
          <p:cNvPr id="18" name="TextBox 17"/>
          <p:cNvSpPr txBox="1"/>
          <p:nvPr/>
        </p:nvSpPr>
        <p:spPr>
          <a:xfrm>
            <a:off x="1051560" y="5166360"/>
            <a:ext cx="9966960" cy="365760"/>
          </a:xfrm>
          <a:prstGeom prst="rect">
            <a:avLst/>
          </a:prstGeom>
          <a:noFill/>
        </p:spPr>
        <p:txBody>
          <a:bodyPr wrap="square"/>
          <a:lstStyle/>
          <a:p>
            <a:pPr algn="ctr">
              <a:spcBef>
                <a:spcPts val="0"/>
              </a:spcBef>
              <a:spcAft>
                <a:spcPts val="0"/>
              </a:spcAft>
            </a:pPr>
            <a:r>
              <a:rPr sz="1400" b="0">
                <a:solidFill>
                  <a:srgbClr val="85858A"/>
                </a:solidFill>
                <a:latin typeface="Inter"/>
              </a:rPr>
              <a:t>Competitors in this category are raising on decks. Anvil is raising on a working product.</a:t>
            </a:r>
          </a:p>
        </p:txBody>
      </p:sp>
      <p:sp>
        <p:nvSpPr>
          <p:cNvPr id="19" name="TextBox 18"/>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274320"/>
            <a:ext cx="10820095" cy="548640"/>
          </a:xfrm>
          <a:prstGeom prst="rect">
            <a:avLst/>
          </a:prstGeom>
          <a:noFill/>
        </p:spPr>
        <p:txBody>
          <a:bodyPr wrap="square"/>
          <a:lstStyle/>
          <a:p>
            <a:pPr algn="ctr">
              <a:spcBef>
                <a:spcPts val="0"/>
              </a:spcBef>
              <a:spcAft>
                <a:spcPts val="0"/>
              </a:spcAft>
            </a:pPr>
            <a:r>
              <a:rPr sz="3400" b="1">
                <a:solidFill>
                  <a:srgbClr val="EBEBEB"/>
                </a:solidFill>
                <a:latin typeface="JetBrains Mono"/>
              </a:rPr>
              <a:t>25 years building what enterprises buy</a:t>
            </a:r>
          </a:p>
        </p:txBody>
      </p:sp>
      <p:sp>
        <p:nvSpPr>
          <p:cNvPr id="3" name="Rectangle 2"/>
          <p:cNvSpPr/>
          <p:nvPr/>
        </p:nvSpPr>
        <p:spPr>
          <a:xfrm>
            <a:off x="685800" y="1188720"/>
            <a:ext cx="3657600" cy="29260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0240"/>
            <a:ext cx="3657600" cy="1097280"/>
          </a:xfrm>
          <a:prstGeom prst="rect">
            <a:avLst/>
          </a:prstGeom>
          <a:noFill/>
        </p:spPr>
        <p:txBody>
          <a:bodyPr wrap="square"/>
          <a:lstStyle/>
          <a:p>
            <a:pPr algn="ctr">
              <a:spcBef>
                <a:spcPts val="0"/>
              </a:spcBef>
              <a:spcAft>
                <a:spcPts val="0"/>
              </a:spcAft>
            </a:pPr>
            <a:r>
              <a:rPr sz="7200" b="0">
                <a:solidFill>
                  <a:srgbClr val="CC5500"/>
                </a:solidFill>
                <a:latin typeface="JetBrains Mono"/>
              </a:rPr>
              <a:t>JB</a:t>
            </a:r>
          </a:p>
        </p:txBody>
      </p:sp>
      <p:sp>
        <p:nvSpPr>
          <p:cNvPr id="5" name="TextBox 4"/>
          <p:cNvSpPr txBox="1"/>
          <p:nvPr/>
        </p:nvSpPr>
        <p:spPr>
          <a:xfrm>
            <a:off x="685800" y="3657600"/>
            <a:ext cx="3657600" cy="365760"/>
          </a:xfrm>
          <a:prstGeom prst="rect">
            <a:avLst/>
          </a:prstGeom>
          <a:noFill/>
        </p:spPr>
        <p:txBody>
          <a:bodyPr wrap="square"/>
          <a:lstStyle/>
          <a:p>
            <a:pPr algn="ctr">
              <a:spcBef>
                <a:spcPts val="0"/>
              </a:spcBef>
              <a:spcAft>
                <a:spcPts val="0"/>
              </a:spcAft>
            </a:pPr>
            <a:r>
              <a:rPr sz="1600" b="0">
                <a:solidFill>
                  <a:srgbClr val="EBEBEB"/>
                </a:solidFill>
                <a:latin typeface="JetBrains Mono"/>
              </a:rPr>
              <a:t>Joshua Boys</a:t>
            </a:r>
          </a:p>
        </p:txBody>
      </p:sp>
      <p:sp>
        <p:nvSpPr>
          <p:cNvPr id="6" name="TextBox 5"/>
          <p:cNvSpPr txBox="1"/>
          <p:nvPr/>
        </p:nvSpPr>
        <p:spPr>
          <a:xfrm>
            <a:off x="4800600" y="1188720"/>
            <a:ext cx="6705295" cy="457200"/>
          </a:xfrm>
          <a:prstGeom prst="rect">
            <a:avLst/>
          </a:prstGeom>
          <a:noFill/>
        </p:spPr>
        <p:txBody>
          <a:bodyPr wrap="square"/>
          <a:lstStyle/>
          <a:p>
            <a:pPr algn="l">
              <a:spcBef>
                <a:spcPts val="0"/>
              </a:spcBef>
              <a:spcAft>
                <a:spcPts val="0"/>
              </a:spcAft>
            </a:pPr>
            <a:r>
              <a:rPr sz="2800" b="1">
                <a:solidFill>
                  <a:srgbClr val="EBEBEB"/>
                </a:solidFill>
                <a:latin typeface="JetBrains Mono"/>
              </a:rPr>
              <a:t>Joshua Boys</a:t>
            </a:r>
          </a:p>
        </p:txBody>
      </p:sp>
      <p:sp>
        <p:nvSpPr>
          <p:cNvPr id="7" name="TextBox 6"/>
          <p:cNvSpPr txBox="1"/>
          <p:nvPr/>
        </p:nvSpPr>
        <p:spPr>
          <a:xfrm>
            <a:off x="4800600" y="1645920"/>
            <a:ext cx="6705295" cy="365760"/>
          </a:xfrm>
          <a:prstGeom prst="rect">
            <a:avLst/>
          </a:prstGeom>
          <a:noFill/>
        </p:spPr>
        <p:txBody>
          <a:bodyPr wrap="square"/>
          <a:lstStyle/>
          <a:p>
            <a:pPr algn="l">
              <a:spcBef>
                <a:spcPts val="0"/>
              </a:spcBef>
              <a:spcAft>
                <a:spcPts val="0"/>
              </a:spcAft>
            </a:pPr>
            <a:r>
              <a:rPr sz="2000" b="0">
                <a:solidFill>
                  <a:srgbClr val="85858A"/>
                </a:solidFill>
                <a:latin typeface="Inter"/>
              </a:rPr>
              <a:t>Founder &amp; CEO</a:t>
            </a:r>
          </a:p>
        </p:txBody>
      </p:sp>
      <p:sp>
        <p:nvSpPr>
          <p:cNvPr id="8" name="TextBox 7"/>
          <p:cNvSpPr txBox="1"/>
          <p:nvPr/>
        </p:nvSpPr>
        <p:spPr>
          <a:xfrm>
            <a:off x="4800600" y="2194560"/>
            <a:ext cx="6705295" cy="365760"/>
          </a:xfrm>
          <a:prstGeom prst="rect">
            <a:avLst/>
          </a:prstGeom>
          <a:noFill/>
        </p:spPr>
        <p:txBody>
          <a:bodyPr wrap="square"/>
          <a:lstStyle/>
          <a:p>
            <a:pPr algn="l">
              <a:spcBef>
                <a:spcPts val="0"/>
              </a:spcBef>
              <a:spcAft>
                <a:spcPts val="0"/>
              </a:spcAft>
            </a:pPr>
            <a:r>
              <a:rPr sz="1600" b="0">
                <a:solidFill>
                  <a:srgbClr val="EBEBEB"/>
                </a:solidFill>
                <a:latin typeface="Inter"/>
              </a:rPr>
              <a:t>Former Microsoft Azure Lead, Australia</a:t>
            </a:r>
          </a:p>
        </p:txBody>
      </p:sp>
      <p:cxnSp>
        <p:nvCxnSpPr>
          <p:cNvPr id="9" name="Connector 8"/>
          <p:cNvCxnSpPr/>
          <p:nvPr/>
        </p:nvCxnSpPr>
        <p:spPr>
          <a:xfrm>
            <a:off x="4800600" y="2606040"/>
            <a:ext cx="6705295" cy="0"/>
          </a:xfrm>
          <a:prstGeom prst="line">
            <a:avLst/>
          </a:prstGeom>
          <a:ln w="12700">
            <a:solidFill>
              <a:srgbClr val="2A2A2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00600" y="2697480"/>
            <a:ext cx="6705295" cy="365760"/>
          </a:xfrm>
          <a:prstGeom prst="rect">
            <a:avLst/>
          </a:prstGeom>
          <a:noFill/>
        </p:spPr>
        <p:txBody>
          <a:bodyPr wrap="square"/>
          <a:lstStyle/>
          <a:p>
            <a:pPr algn="l">
              <a:spcBef>
                <a:spcPts val="0"/>
              </a:spcBef>
              <a:spcAft>
                <a:spcPts val="0"/>
              </a:spcAft>
            </a:pPr>
            <a:r>
              <a:rPr sz="1600" b="0">
                <a:solidFill>
                  <a:srgbClr val="EBEBEB"/>
                </a:solidFill>
                <a:latin typeface="Inter"/>
              </a:rPr>
              <a:t>CEO of Arkahna — platform engineering for 100+ SaaS companies (5 years)</a:t>
            </a:r>
          </a:p>
        </p:txBody>
      </p:sp>
      <p:cxnSp>
        <p:nvCxnSpPr>
          <p:cNvPr id="11" name="Connector 10"/>
          <p:cNvCxnSpPr/>
          <p:nvPr/>
        </p:nvCxnSpPr>
        <p:spPr>
          <a:xfrm>
            <a:off x="4800600" y="3108960"/>
            <a:ext cx="6705295" cy="0"/>
          </a:xfrm>
          <a:prstGeom prst="line">
            <a:avLst/>
          </a:prstGeom>
          <a:ln w="12700">
            <a:solidFill>
              <a:srgbClr val="2A2A2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3200400"/>
            <a:ext cx="6705295" cy="365760"/>
          </a:xfrm>
          <a:prstGeom prst="rect">
            <a:avLst/>
          </a:prstGeom>
          <a:noFill/>
        </p:spPr>
        <p:txBody>
          <a:bodyPr wrap="square"/>
          <a:lstStyle/>
          <a:p>
            <a:pPr algn="l">
              <a:spcBef>
                <a:spcPts val="0"/>
              </a:spcBef>
              <a:spcAft>
                <a:spcPts val="0"/>
              </a:spcAft>
            </a:pPr>
            <a:r>
              <a:rPr sz="1600" b="0">
                <a:solidFill>
                  <a:srgbClr val="EBEBEB"/>
                </a:solidFill>
                <a:latin typeface="Inter"/>
              </a:rPr>
              <a:t>25+ years building enterprise software, leading teams, shipping SaaS</a:t>
            </a:r>
          </a:p>
        </p:txBody>
      </p:sp>
      <p:cxnSp>
        <p:nvCxnSpPr>
          <p:cNvPr id="13" name="Connector 12"/>
          <p:cNvCxnSpPr/>
          <p:nvPr/>
        </p:nvCxnSpPr>
        <p:spPr>
          <a:xfrm>
            <a:off x="4800600" y="3611880"/>
            <a:ext cx="6705295" cy="0"/>
          </a:xfrm>
          <a:prstGeom prst="line">
            <a:avLst/>
          </a:prstGeom>
          <a:ln w="12700">
            <a:solidFill>
              <a:srgbClr val="2A2A2E"/>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800600" y="3840480"/>
            <a:ext cx="6705295" cy="64008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3840480"/>
            <a:ext cx="63500" cy="64008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3931920"/>
            <a:ext cx="6339535" cy="457200"/>
          </a:xfrm>
          <a:prstGeom prst="rect">
            <a:avLst/>
          </a:prstGeom>
          <a:noFill/>
        </p:spPr>
        <p:txBody>
          <a:bodyPr wrap="square"/>
          <a:lstStyle/>
          <a:p>
            <a:pPr algn="l">
              <a:spcBef>
                <a:spcPts val="0"/>
              </a:spcBef>
              <a:spcAft>
                <a:spcPts val="0"/>
              </a:spcAft>
            </a:pPr>
            <a:r>
              <a:rPr sz="1400" b="0">
                <a:solidFill>
                  <a:srgbClr val="EBEBEB"/>
                </a:solidFill>
                <a:latin typeface="Inter"/>
              </a:rPr>
              <a:t>Built governance tooling from inside the enterprise buying process — not from a research lab</a:t>
            </a:r>
          </a:p>
        </p:txBody>
      </p:sp>
      <p:sp>
        <p:nvSpPr>
          <p:cNvPr id="17" name="TextBox 16"/>
          <p:cNvSpPr txBox="1"/>
          <p:nvPr/>
        </p:nvSpPr>
        <p:spPr>
          <a:xfrm>
            <a:off x="685800" y="4572000"/>
            <a:ext cx="5943600" cy="640080"/>
          </a:xfrm>
          <a:prstGeom prst="rect">
            <a:avLst/>
          </a:prstGeom>
          <a:noFill/>
        </p:spPr>
        <p:txBody>
          <a:bodyPr wrap="square"/>
          <a:lstStyle/>
          <a:p>
            <a:pPr algn="l">
              <a:spcBef>
                <a:spcPts val="0"/>
              </a:spcBef>
              <a:spcAft>
                <a:spcPts val="0"/>
              </a:spcAft>
            </a:pPr>
            <a:r>
              <a:rPr sz="1400" b="0">
                <a:solidFill>
                  <a:srgbClr val="85858A"/>
                </a:solidFill>
                <a:latin typeface="Inter"/>
              </a:rPr>
              <a:t>Advisory support across enterprise software, startup scaling, and large SaaS.
First hires: engineering + enterprise-focused CRO — team scales with the raise.</a:t>
            </a:r>
          </a:p>
        </p:txBody>
      </p:sp>
      <p:sp>
        <p:nvSpPr>
          <p:cNvPr id="18" name="Rectangle 17"/>
          <p:cNvSpPr/>
          <p:nvPr/>
        </p:nvSpPr>
        <p:spPr>
          <a:xfrm>
            <a:off x="7772400" y="4572000"/>
            <a:ext cx="365760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0" y="4617720"/>
            <a:ext cx="3291840" cy="320040"/>
          </a:xfrm>
          <a:prstGeom prst="rect">
            <a:avLst/>
          </a:prstGeom>
          <a:noFill/>
        </p:spPr>
        <p:txBody>
          <a:bodyPr wrap="square"/>
          <a:lstStyle/>
          <a:p>
            <a:pPr algn="l">
              <a:spcBef>
                <a:spcPts val="0"/>
              </a:spcBef>
              <a:spcAft>
                <a:spcPts val="0"/>
              </a:spcAft>
            </a:pPr>
            <a:r>
              <a:rPr sz="1600" b="1">
                <a:solidFill>
                  <a:srgbClr val="CC5500"/>
                </a:solidFill>
                <a:latin typeface="JetBrains Mono"/>
              </a:rPr>
              <a:t>£0 raised → production product</a:t>
            </a:r>
          </a:p>
        </p:txBody>
      </p:sp>
      <p:sp>
        <p:nvSpPr>
          <p:cNvPr id="20" name="TextBox 19"/>
          <p:cNvSpPr txBox="1"/>
          <p:nvPr/>
        </p:nvSpPr>
        <p:spPr>
          <a:xfrm>
            <a:off x="7955280" y="4937760"/>
            <a:ext cx="3291840" cy="320040"/>
          </a:xfrm>
          <a:prstGeom prst="rect">
            <a:avLst/>
          </a:prstGeom>
          <a:noFill/>
        </p:spPr>
        <p:txBody>
          <a:bodyPr wrap="square"/>
          <a:lstStyle/>
          <a:p>
            <a:pPr algn="l">
              <a:spcBef>
                <a:spcPts val="0"/>
              </a:spcBef>
              <a:spcAft>
                <a:spcPts val="0"/>
              </a:spcAft>
            </a:pPr>
            <a:r>
              <a:rPr sz="1200" b="0">
                <a:solidFill>
                  <a:srgbClr val="85858A"/>
                </a:solidFill>
                <a:latin typeface="Inter"/>
              </a:rPr>
              <a:t>Capital efficient by design</a:t>
            </a:r>
          </a:p>
        </p:txBody>
      </p:sp>
      <p:sp>
        <p:nvSpPr>
          <p:cNvPr id="21" name="TextBox 20"/>
          <p:cNvSpPr txBox="1"/>
          <p:nvPr/>
        </p:nvSpPr>
        <p:spPr>
          <a:xfrm>
            <a:off x="685800" y="5577840"/>
            <a:ext cx="10820095" cy="457200"/>
          </a:xfrm>
          <a:prstGeom prst="rect">
            <a:avLst/>
          </a:prstGeom>
          <a:noFill/>
        </p:spPr>
        <p:txBody>
          <a:bodyPr wrap="square"/>
          <a:lstStyle/>
          <a:p>
            <a:pPr algn="ctr">
              <a:spcBef>
                <a:spcPts val="0"/>
              </a:spcBef>
              <a:spcAft>
                <a:spcPts val="0"/>
              </a:spcAft>
            </a:pPr>
            <a:r>
              <a:rPr sz="1600" b="0">
                <a:solidFill>
                  <a:srgbClr val="CC5500"/>
                </a:solidFill>
                <a:latin typeface="JetBrains Mono"/>
              </a:rPr>
              <a:t>Built to make you trust your AI more — not by asking you to trust ours.</a:t>
            </a:r>
          </a:p>
        </p:txBody>
      </p:sp>
      <p:sp>
        <p:nvSpPr>
          <p:cNvPr id="22" name="TextBox 21"/>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182880"/>
            <a:ext cx="10820095" cy="457200"/>
          </a:xfrm>
          <a:prstGeom prst="rect">
            <a:avLst/>
          </a:prstGeom>
          <a:noFill/>
        </p:spPr>
        <p:txBody>
          <a:bodyPr wrap="square"/>
          <a:lstStyle/>
          <a:p>
            <a:pPr algn="ctr">
              <a:spcBef>
                <a:spcPts val="0"/>
              </a:spcBef>
              <a:spcAft>
                <a:spcPts val="0"/>
              </a:spcAft>
            </a:pPr>
            <a:r>
              <a:rPr sz="3000" b="1">
                <a:solidFill>
                  <a:srgbClr val="EBEBEB"/>
                </a:solidFill>
                <a:latin typeface="JetBrains Mono"/>
              </a:rPr>
              <a:t>Own the category before the window closes</a:t>
            </a:r>
          </a:p>
        </p:txBody>
      </p:sp>
      <p:sp>
        <p:nvSpPr>
          <p:cNvPr id="3" name="TextBox 2"/>
          <p:cNvSpPr txBox="1"/>
          <p:nvPr/>
        </p:nvSpPr>
        <p:spPr>
          <a:xfrm>
            <a:off x="685800" y="640080"/>
            <a:ext cx="10820095" cy="914400"/>
          </a:xfrm>
          <a:prstGeom prst="rect">
            <a:avLst/>
          </a:prstGeom>
          <a:noFill/>
        </p:spPr>
        <p:txBody>
          <a:bodyPr wrap="square"/>
          <a:lstStyle/>
          <a:p>
            <a:pPr algn="ctr">
              <a:spcBef>
                <a:spcPts val="0"/>
              </a:spcBef>
              <a:spcAft>
                <a:spcPts val="0"/>
              </a:spcAft>
            </a:pPr>
            <a:r>
              <a:rPr sz="9600" b="1">
                <a:solidFill>
                  <a:srgbClr val="CC5500"/>
                </a:solidFill>
                <a:latin typeface="JetBrains Mono"/>
              </a:rPr>
              <a:t>£3–5M</a:t>
            </a:r>
          </a:p>
        </p:txBody>
      </p:sp>
      <p:sp>
        <p:nvSpPr>
          <p:cNvPr id="4" name="TextBox 3"/>
          <p:cNvSpPr txBox="1"/>
          <p:nvPr/>
        </p:nvSpPr>
        <p:spPr>
          <a:xfrm>
            <a:off x="685800" y="1463040"/>
            <a:ext cx="10820095" cy="365760"/>
          </a:xfrm>
          <a:prstGeom prst="rect">
            <a:avLst/>
          </a:prstGeom>
          <a:noFill/>
        </p:spPr>
        <p:txBody>
          <a:bodyPr wrap="square"/>
          <a:lstStyle/>
          <a:p>
            <a:pPr algn="ctr">
              <a:spcBef>
                <a:spcPts val="0"/>
              </a:spcBef>
              <a:spcAft>
                <a:spcPts val="0"/>
              </a:spcAft>
            </a:pPr>
            <a:r>
              <a:rPr sz="2000" b="0">
                <a:solidFill>
                  <a:srgbClr val="85858A"/>
                </a:solidFill>
                <a:latin typeface="Inter"/>
              </a:rPr>
              <a:t>£15–25M pre-money valuation  |  Seed round</a:t>
            </a:r>
          </a:p>
        </p:txBody>
      </p:sp>
      <p:sp>
        <p:nvSpPr>
          <p:cNvPr id="5" name="Rectangle 4"/>
          <p:cNvSpPr/>
          <p:nvPr/>
        </p:nvSpPr>
        <p:spPr>
          <a:xfrm>
            <a:off x="1371600" y="2103120"/>
            <a:ext cx="3767328" cy="64008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788920"/>
            <a:ext cx="3767328" cy="457200"/>
          </a:xfrm>
          <a:prstGeom prst="rect">
            <a:avLst/>
          </a:prstGeom>
          <a:noFill/>
        </p:spPr>
        <p:txBody>
          <a:bodyPr wrap="square"/>
          <a:lstStyle/>
          <a:p>
            <a:pPr algn="ctr">
              <a:spcBef>
                <a:spcPts val="0"/>
              </a:spcBef>
              <a:spcAft>
                <a:spcPts val="0"/>
              </a:spcAft>
            </a:pPr>
            <a:r>
              <a:rPr sz="1100" b="0">
                <a:solidFill>
                  <a:srgbClr val="CC5500"/>
                </a:solidFill>
                <a:latin typeface="JetBrains Mono"/>
              </a:rPr>
              <a:t>Engineering
40%</a:t>
            </a:r>
          </a:p>
        </p:txBody>
      </p:sp>
      <p:sp>
        <p:nvSpPr>
          <p:cNvPr id="7" name="Rectangle 6"/>
          <p:cNvSpPr/>
          <p:nvPr/>
        </p:nvSpPr>
        <p:spPr>
          <a:xfrm>
            <a:off x="5138928" y="2103120"/>
            <a:ext cx="2825496" cy="640080"/>
          </a:xfrm>
          <a:prstGeom prst="rect">
            <a:avLst/>
          </a:prstGeom>
          <a:solidFill>
            <a:srgbClr val="2E8B57"/>
          </a:solidFill>
          <a:ln>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38928" y="2788920"/>
            <a:ext cx="2825496" cy="457200"/>
          </a:xfrm>
          <a:prstGeom prst="rect">
            <a:avLst/>
          </a:prstGeom>
          <a:noFill/>
        </p:spPr>
        <p:txBody>
          <a:bodyPr wrap="square"/>
          <a:lstStyle/>
          <a:p>
            <a:pPr algn="ctr">
              <a:spcBef>
                <a:spcPts val="0"/>
              </a:spcBef>
              <a:spcAft>
                <a:spcPts val="0"/>
              </a:spcAft>
            </a:pPr>
            <a:r>
              <a:rPr sz="1100" b="0">
                <a:solidFill>
                  <a:srgbClr val="2E8B57"/>
                </a:solidFill>
                <a:latin typeface="JetBrains Mono"/>
              </a:rPr>
              <a:t>Go-to-Market
30%</a:t>
            </a:r>
          </a:p>
        </p:txBody>
      </p:sp>
      <p:sp>
        <p:nvSpPr>
          <p:cNvPr id="9" name="Rectangle 8"/>
          <p:cNvSpPr/>
          <p:nvPr/>
        </p:nvSpPr>
        <p:spPr>
          <a:xfrm>
            <a:off x="7964424" y="2103120"/>
            <a:ext cx="1883664" cy="640080"/>
          </a:xfrm>
          <a:prstGeom prst="rect">
            <a:avLst/>
          </a:prstGeom>
          <a:solidFill>
            <a:srgbClr val="EBEBEB"/>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64424" y="2788920"/>
            <a:ext cx="1883664" cy="457200"/>
          </a:xfrm>
          <a:prstGeom prst="rect">
            <a:avLst/>
          </a:prstGeom>
          <a:noFill/>
        </p:spPr>
        <p:txBody>
          <a:bodyPr wrap="square"/>
          <a:lstStyle/>
          <a:p>
            <a:pPr algn="ctr">
              <a:spcBef>
                <a:spcPts val="0"/>
              </a:spcBef>
              <a:spcAft>
                <a:spcPts val="0"/>
              </a:spcAft>
            </a:pPr>
            <a:r>
              <a:rPr sz="1100" b="0">
                <a:solidFill>
                  <a:srgbClr val="EBEBEB"/>
                </a:solidFill>
                <a:latin typeface="JetBrains Mono"/>
              </a:rPr>
              <a:t>Strategic Acq.
20%</a:t>
            </a:r>
          </a:p>
        </p:txBody>
      </p:sp>
      <p:sp>
        <p:nvSpPr>
          <p:cNvPr id="11" name="Rectangle 10"/>
          <p:cNvSpPr/>
          <p:nvPr/>
        </p:nvSpPr>
        <p:spPr>
          <a:xfrm>
            <a:off x="9848088" y="2103120"/>
            <a:ext cx="941832" cy="640080"/>
          </a:xfrm>
          <a:prstGeom prst="rect">
            <a:avLst/>
          </a:prstGeom>
          <a:solidFill>
            <a:srgbClr val="85858A"/>
          </a:solidFill>
          <a:ln>
            <a:solidFill>
              <a:srgbClr val="858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2788920"/>
            <a:ext cx="941832" cy="457200"/>
          </a:xfrm>
          <a:prstGeom prst="rect">
            <a:avLst/>
          </a:prstGeom>
          <a:noFill/>
        </p:spPr>
        <p:txBody>
          <a:bodyPr wrap="square"/>
          <a:lstStyle/>
          <a:p>
            <a:pPr algn="ctr">
              <a:spcBef>
                <a:spcPts val="0"/>
              </a:spcBef>
              <a:spcAft>
                <a:spcPts val="0"/>
              </a:spcAft>
            </a:pPr>
            <a:r>
              <a:rPr sz="1100" b="0">
                <a:solidFill>
                  <a:srgbClr val="85858A"/>
                </a:solidFill>
                <a:latin typeface="JetBrains Mono"/>
              </a:rPr>
              <a:t>Operations
10%</a:t>
            </a:r>
          </a:p>
        </p:txBody>
      </p:sp>
      <p:sp>
        <p:nvSpPr>
          <p:cNvPr id="13" name="TextBox 12"/>
          <p:cNvSpPr txBox="1"/>
          <p:nvPr/>
        </p:nvSpPr>
        <p:spPr>
          <a:xfrm>
            <a:off x="1371600" y="3291840"/>
            <a:ext cx="2743200" cy="365760"/>
          </a:xfrm>
          <a:prstGeom prst="rect">
            <a:avLst/>
          </a:prstGeom>
          <a:noFill/>
        </p:spPr>
        <p:txBody>
          <a:bodyPr wrap="square"/>
          <a:lstStyle/>
          <a:p>
            <a:pPr algn="l">
              <a:spcBef>
                <a:spcPts val="0"/>
              </a:spcBef>
              <a:spcAft>
                <a:spcPts val="0"/>
              </a:spcAft>
            </a:pPr>
            <a:r>
              <a:rPr sz="1200" b="1">
                <a:solidFill>
                  <a:srgbClr val="CC5500"/>
                </a:solidFill>
                <a:latin typeface="JetBrains Mono"/>
              </a:rPr>
              <a:t>Engineering (~40%)</a:t>
            </a:r>
          </a:p>
        </p:txBody>
      </p:sp>
      <p:sp>
        <p:nvSpPr>
          <p:cNvPr id="14" name="TextBox 13"/>
          <p:cNvSpPr txBox="1"/>
          <p:nvPr/>
        </p:nvSpPr>
        <p:spPr>
          <a:xfrm>
            <a:off x="4389120" y="3291840"/>
            <a:ext cx="6400800" cy="365760"/>
          </a:xfrm>
          <a:prstGeom prst="rect">
            <a:avLst/>
          </a:prstGeom>
          <a:noFill/>
        </p:spPr>
        <p:txBody>
          <a:bodyPr wrap="square"/>
          <a:lstStyle/>
          <a:p>
            <a:pPr algn="l">
              <a:spcBef>
                <a:spcPts val="0"/>
              </a:spcBef>
              <a:spcAft>
                <a:spcPts val="0"/>
              </a:spcAft>
            </a:pPr>
            <a:r>
              <a:rPr sz="1200" b="0">
                <a:solidFill>
                  <a:srgbClr val="85858A"/>
                </a:solidFill>
                <a:latin typeface="Inter"/>
              </a:rPr>
              <a:t>3–4 hires. Rust kernel, platform layer, ecosystem integrations.</a:t>
            </a:r>
          </a:p>
        </p:txBody>
      </p:sp>
      <p:sp>
        <p:nvSpPr>
          <p:cNvPr id="15" name="TextBox 14"/>
          <p:cNvSpPr txBox="1"/>
          <p:nvPr/>
        </p:nvSpPr>
        <p:spPr>
          <a:xfrm>
            <a:off x="1371600" y="3749040"/>
            <a:ext cx="2743200" cy="365760"/>
          </a:xfrm>
          <a:prstGeom prst="rect">
            <a:avLst/>
          </a:prstGeom>
          <a:noFill/>
        </p:spPr>
        <p:txBody>
          <a:bodyPr wrap="square"/>
          <a:lstStyle/>
          <a:p>
            <a:pPr algn="l">
              <a:spcBef>
                <a:spcPts val="0"/>
              </a:spcBef>
              <a:spcAft>
                <a:spcPts val="0"/>
              </a:spcAft>
            </a:pPr>
            <a:r>
              <a:rPr sz="1200" b="1">
                <a:solidFill>
                  <a:srgbClr val="2E8B57"/>
                </a:solidFill>
                <a:latin typeface="JetBrains Mono"/>
              </a:rPr>
              <a:t>Go-to-Market (~30%)</a:t>
            </a:r>
          </a:p>
        </p:txBody>
      </p:sp>
      <p:sp>
        <p:nvSpPr>
          <p:cNvPr id="16" name="TextBox 15"/>
          <p:cNvSpPr txBox="1"/>
          <p:nvPr/>
        </p:nvSpPr>
        <p:spPr>
          <a:xfrm>
            <a:off x="4389120" y="3749040"/>
            <a:ext cx="6400800" cy="365760"/>
          </a:xfrm>
          <a:prstGeom prst="rect">
            <a:avLst/>
          </a:prstGeom>
          <a:noFill/>
        </p:spPr>
        <p:txBody>
          <a:bodyPr wrap="square"/>
          <a:lstStyle/>
          <a:p>
            <a:pPr algn="l">
              <a:spcBef>
                <a:spcPts val="0"/>
              </a:spcBef>
              <a:spcAft>
                <a:spcPts val="0"/>
              </a:spcAft>
            </a:pPr>
            <a:r>
              <a:rPr sz="1200" b="0">
                <a:solidFill>
                  <a:srgbClr val="85858A"/>
                </a:solidFill>
                <a:latin typeface="Inter"/>
              </a:rPr>
              <a:t>Enterprise CRO + developer advocacy. Arkahna’s 100+ SaaS network.</a:t>
            </a:r>
          </a:p>
        </p:txBody>
      </p:sp>
      <p:sp>
        <p:nvSpPr>
          <p:cNvPr id="17" name="TextBox 16"/>
          <p:cNvSpPr txBox="1"/>
          <p:nvPr/>
        </p:nvSpPr>
        <p:spPr>
          <a:xfrm>
            <a:off x="1371600" y="4206240"/>
            <a:ext cx="2743200" cy="365760"/>
          </a:xfrm>
          <a:prstGeom prst="rect">
            <a:avLst/>
          </a:prstGeom>
          <a:noFill/>
        </p:spPr>
        <p:txBody>
          <a:bodyPr wrap="square"/>
          <a:lstStyle/>
          <a:p>
            <a:pPr algn="l">
              <a:spcBef>
                <a:spcPts val="0"/>
              </a:spcBef>
              <a:spcAft>
                <a:spcPts val="0"/>
              </a:spcAft>
            </a:pPr>
            <a:r>
              <a:rPr sz="1200" b="1">
                <a:solidFill>
                  <a:srgbClr val="EBEBEB"/>
                </a:solidFill>
                <a:latin typeface="JetBrains Mono"/>
              </a:rPr>
              <a:t>Strategic Acquisition (~20%)</a:t>
            </a:r>
          </a:p>
        </p:txBody>
      </p:sp>
      <p:sp>
        <p:nvSpPr>
          <p:cNvPr id="18" name="TextBox 17"/>
          <p:cNvSpPr txBox="1"/>
          <p:nvPr/>
        </p:nvSpPr>
        <p:spPr>
          <a:xfrm>
            <a:off x="4389120" y="4206240"/>
            <a:ext cx="6400800" cy="365760"/>
          </a:xfrm>
          <a:prstGeom prst="rect">
            <a:avLst/>
          </a:prstGeom>
          <a:noFill/>
        </p:spPr>
        <p:txBody>
          <a:bodyPr wrap="square"/>
          <a:lstStyle/>
          <a:p>
            <a:pPr algn="l">
              <a:spcBef>
                <a:spcPts val="0"/>
              </a:spcBef>
              <a:spcAft>
                <a:spcPts val="0"/>
              </a:spcAft>
            </a:pPr>
            <a:r>
              <a:rPr sz="1200" b="0">
                <a:solidFill>
                  <a:srgbClr val="85858A"/>
                </a:solidFill>
                <a:latin typeface="Inter"/>
              </a:rPr>
              <a:t>Platform engineering IP. Arm’s-length, accelerating maturity.</a:t>
            </a:r>
          </a:p>
        </p:txBody>
      </p:sp>
      <p:sp>
        <p:nvSpPr>
          <p:cNvPr id="19" name="TextBox 18"/>
          <p:cNvSpPr txBox="1"/>
          <p:nvPr/>
        </p:nvSpPr>
        <p:spPr>
          <a:xfrm>
            <a:off x="1371600" y="4663440"/>
            <a:ext cx="2743200" cy="365760"/>
          </a:xfrm>
          <a:prstGeom prst="rect">
            <a:avLst/>
          </a:prstGeom>
          <a:noFill/>
        </p:spPr>
        <p:txBody>
          <a:bodyPr wrap="square"/>
          <a:lstStyle/>
          <a:p>
            <a:pPr algn="l">
              <a:spcBef>
                <a:spcPts val="0"/>
              </a:spcBef>
              <a:spcAft>
                <a:spcPts val="0"/>
              </a:spcAft>
            </a:pPr>
            <a:r>
              <a:rPr sz="1200" b="1">
                <a:solidFill>
                  <a:srgbClr val="85858A"/>
                </a:solidFill>
                <a:latin typeface="JetBrains Mono"/>
              </a:rPr>
              <a:t>Operations (~10%)</a:t>
            </a:r>
          </a:p>
        </p:txBody>
      </p:sp>
      <p:sp>
        <p:nvSpPr>
          <p:cNvPr id="20" name="TextBox 19"/>
          <p:cNvSpPr txBox="1"/>
          <p:nvPr/>
        </p:nvSpPr>
        <p:spPr>
          <a:xfrm>
            <a:off x="4389120" y="4663440"/>
            <a:ext cx="6400800" cy="365760"/>
          </a:xfrm>
          <a:prstGeom prst="rect">
            <a:avLst/>
          </a:prstGeom>
          <a:noFill/>
        </p:spPr>
        <p:txBody>
          <a:bodyPr wrap="square"/>
          <a:lstStyle/>
          <a:p>
            <a:pPr algn="l">
              <a:spcBef>
                <a:spcPts val="0"/>
              </a:spcBef>
              <a:spcAft>
                <a:spcPts val="0"/>
              </a:spcAft>
            </a:pPr>
            <a:r>
              <a:rPr sz="1200" b="0">
                <a:solidFill>
                  <a:srgbClr val="85858A"/>
                </a:solidFill>
                <a:latin typeface="Inter"/>
              </a:rPr>
              <a:t>Compliance certification, infrastructure.</a:t>
            </a:r>
          </a:p>
        </p:txBody>
      </p:sp>
      <p:cxnSp>
        <p:nvCxnSpPr>
          <p:cNvPr id="21" name="Connector 20"/>
          <p:cNvCxnSpPr/>
          <p:nvPr/>
        </p:nvCxnSpPr>
        <p:spPr>
          <a:xfrm>
            <a:off x="1371600" y="5532120"/>
            <a:ext cx="9418320" cy="0"/>
          </a:xfrm>
          <a:prstGeom prst="line">
            <a:avLst/>
          </a:prstGeom>
          <a:ln w="25400">
            <a:solidFill>
              <a:srgbClr val="2A2A2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303020" y="5463540"/>
            <a:ext cx="137160" cy="137160"/>
          </a:xfrm>
          <a:prstGeom prst="ellipse">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715000"/>
            <a:ext cx="1097280" cy="548640"/>
          </a:xfrm>
          <a:prstGeom prst="rect">
            <a:avLst/>
          </a:prstGeom>
          <a:noFill/>
        </p:spPr>
        <p:txBody>
          <a:bodyPr wrap="square"/>
          <a:lstStyle/>
          <a:p>
            <a:pPr algn="ctr">
              <a:spcBef>
                <a:spcPts val="0"/>
              </a:spcBef>
              <a:spcAft>
                <a:spcPts val="0"/>
              </a:spcAft>
            </a:pPr>
            <a:r>
              <a:rPr sz="1100" b="0">
                <a:solidFill>
                  <a:srgbClr val="2E8B57"/>
                </a:solidFill>
                <a:latin typeface="Inter"/>
              </a:rPr>
              <a:t>Profitability</a:t>
            </a:r>
          </a:p>
        </p:txBody>
      </p:sp>
      <p:sp>
        <p:nvSpPr>
          <p:cNvPr id="24" name="Oval 23"/>
          <p:cNvSpPr/>
          <p:nvPr/>
        </p:nvSpPr>
        <p:spPr>
          <a:xfrm>
            <a:off x="4128516" y="5463540"/>
            <a:ext cx="137160" cy="137160"/>
          </a:xfrm>
          <a:prstGeom prst="ellips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5715000"/>
            <a:ext cx="1097280" cy="548640"/>
          </a:xfrm>
          <a:prstGeom prst="rect">
            <a:avLst/>
          </a:prstGeom>
          <a:noFill/>
        </p:spPr>
        <p:txBody>
          <a:bodyPr wrap="square"/>
          <a:lstStyle/>
          <a:p>
            <a:pPr algn="ctr">
              <a:spcBef>
                <a:spcPts val="0"/>
              </a:spcBef>
              <a:spcAft>
                <a:spcPts val="0"/>
              </a:spcAft>
            </a:pPr>
            <a:r>
              <a:rPr sz="1100" b="1">
                <a:solidFill>
                  <a:srgbClr val="CC5500"/>
                </a:solidFill>
                <a:latin typeface="Inter"/>
              </a:rPr>
              <a:t>50+ paying
teams</a:t>
            </a:r>
          </a:p>
        </p:txBody>
      </p:sp>
      <p:sp>
        <p:nvSpPr>
          <p:cNvPr id="26" name="Oval 25"/>
          <p:cNvSpPr/>
          <p:nvPr/>
        </p:nvSpPr>
        <p:spPr>
          <a:xfrm>
            <a:off x="6954012" y="5463540"/>
            <a:ext cx="137160" cy="137160"/>
          </a:xfrm>
          <a:prstGeom prst="ellipse">
            <a:avLst/>
          </a:prstGeom>
          <a:solidFill>
            <a:srgbClr val="CC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5715000"/>
            <a:ext cx="1097280" cy="548640"/>
          </a:xfrm>
          <a:prstGeom prst="rect">
            <a:avLst/>
          </a:prstGeom>
          <a:noFill/>
        </p:spPr>
        <p:txBody>
          <a:bodyPr wrap="square"/>
          <a:lstStyle/>
          <a:p>
            <a:pPr algn="ctr">
              <a:spcBef>
                <a:spcPts val="0"/>
              </a:spcBef>
              <a:spcAft>
                <a:spcPts val="0"/>
              </a:spcAft>
            </a:pPr>
            <a:r>
              <a:rPr sz="1100" b="1">
                <a:solidFill>
                  <a:srgbClr val="CC5500"/>
                </a:solidFill>
                <a:latin typeface="Inter"/>
              </a:rPr>
              <a:t>Aug 2026
EU AI Act</a:t>
            </a:r>
          </a:p>
        </p:txBody>
      </p:sp>
      <p:sp>
        <p:nvSpPr>
          <p:cNvPr id="28" name="Oval 27"/>
          <p:cNvSpPr/>
          <p:nvPr/>
        </p:nvSpPr>
        <p:spPr>
          <a:xfrm>
            <a:off x="10250424" y="5463540"/>
            <a:ext cx="137160" cy="137160"/>
          </a:xfrm>
          <a:prstGeom prst="ellipse">
            <a:avLst/>
          </a:prstGeom>
          <a:solidFill>
            <a:srgbClr val="858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0364" y="5715000"/>
            <a:ext cx="1097280" cy="548640"/>
          </a:xfrm>
          <a:prstGeom prst="rect">
            <a:avLst/>
          </a:prstGeom>
          <a:noFill/>
        </p:spPr>
        <p:txBody>
          <a:bodyPr wrap="square"/>
          <a:lstStyle/>
          <a:p>
            <a:pPr algn="ctr">
              <a:spcBef>
                <a:spcPts val="0"/>
              </a:spcBef>
              <a:spcAft>
                <a:spcPts val="0"/>
              </a:spcAft>
            </a:pPr>
            <a:r>
              <a:rPr sz="1100" b="0">
                <a:solidFill>
                  <a:srgbClr val="85858A"/>
                </a:solidFill>
                <a:latin typeface="Inter"/>
              </a:rPr>
              <a:t>Phase 2
Knowledge work</a:t>
            </a:r>
          </a:p>
        </p:txBody>
      </p:sp>
      <p:sp>
        <p:nvSpPr>
          <p:cNvPr id="30" name="TextBox 29"/>
          <p:cNvSpPr txBox="1"/>
          <p:nvPr/>
        </p:nvSpPr>
        <p:spPr>
          <a:xfrm>
            <a:off x="685800" y="4754880"/>
            <a:ext cx="10820095" cy="365760"/>
          </a:xfrm>
          <a:prstGeom prst="rect">
            <a:avLst/>
          </a:prstGeom>
          <a:noFill/>
        </p:spPr>
        <p:txBody>
          <a:bodyPr wrap="square"/>
          <a:lstStyle/>
          <a:p>
            <a:pPr algn="ctr">
              <a:spcBef>
                <a:spcPts val="0"/>
              </a:spcBef>
              <a:spcAft>
                <a:spcPts val="0"/>
              </a:spcAft>
            </a:pPr>
            <a:r>
              <a:rPr sz="1400" b="0">
                <a:solidFill>
                  <a:srgbClr val="CC5500"/>
                </a:solidFill>
                <a:latin typeface="JetBrains Mono"/>
              </a:rPr>
              <a:t>EU AI Act enforcement: August 2026. 5 months to capture the compliance purchasing wave.</a:t>
            </a:r>
          </a:p>
        </p:txBody>
      </p:sp>
      <p:sp>
        <p:nvSpPr>
          <p:cNvPr id="31" name="TextBox 30"/>
          <p:cNvSpPr txBox="1"/>
          <p:nvPr/>
        </p:nvSpPr>
        <p:spPr>
          <a:xfrm>
            <a:off x="685800" y="6217920"/>
            <a:ext cx="10820095" cy="274320"/>
          </a:xfrm>
          <a:prstGeom prst="rect">
            <a:avLst/>
          </a:prstGeom>
          <a:noFill/>
        </p:spPr>
        <p:txBody>
          <a:bodyPr wrap="square"/>
          <a:lstStyle/>
          <a:p>
            <a:pPr algn="ctr">
              <a:spcBef>
                <a:spcPts val="0"/>
              </a:spcBef>
              <a:spcAft>
                <a:spcPts val="0"/>
              </a:spcAft>
            </a:pPr>
            <a:r>
              <a:rPr sz="1400" b="0">
                <a:solidFill>
                  <a:srgbClr val="85858A"/>
                </a:solidFill>
                <a:latin typeface="Inter"/>
              </a:rPr>
              <a:t>Phase 2: AI governance for all knowledge work — self-funded, no further dilution</a:t>
            </a:r>
          </a:p>
        </p:txBody>
      </p:sp>
      <p:sp>
        <p:nvSpPr>
          <p:cNvPr id="32" name="TextBox 31"/>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F"/>
        </a:solidFill>
        <a:effectLst/>
      </p:bgPr>
    </p:bg>
    <p:spTree>
      <p:nvGrpSpPr>
        <p:cNvPr id="1" name=""/>
        <p:cNvGrpSpPr/>
        <p:nvPr/>
      </p:nvGrpSpPr>
      <p:grpSpPr/>
      <p:sp>
        <p:nvSpPr>
          <p:cNvPr id="2" name="TextBox 1"/>
          <p:cNvSpPr txBox="1"/>
          <p:nvPr/>
        </p:nvSpPr>
        <p:spPr>
          <a:xfrm>
            <a:off x="685800" y="548640"/>
            <a:ext cx="10820095" cy="640080"/>
          </a:xfrm>
          <a:prstGeom prst="rect">
            <a:avLst/>
          </a:prstGeom>
          <a:noFill/>
        </p:spPr>
        <p:txBody>
          <a:bodyPr wrap="square"/>
          <a:lstStyle/>
          <a:p>
            <a:pPr algn="ctr">
              <a:spcBef>
                <a:spcPts val="0"/>
              </a:spcBef>
              <a:spcAft>
                <a:spcPts val="0"/>
              </a:spcAft>
            </a:pPr>
            <a:r>
              <a:rPr sz="4000" b="1">
                <a:solidFill>
                  <a:srgbClr val="EBEBEB"/>
                </a:solidFill>
                <a:latin typeface="JetBrains Mono"/>
              </a:rPr>
              <a:t>Deep dive materials</a:t>
            </a:r>
          </a:p>
        </p:txBody>
      </p:sp>
      <p:sp>
        <p:nvSpPr>
          <p:cNvPr id="3" name="TextBox 2"/>
          <p:cNvSpPr txBox="1"/>
          <p:nvPr/>
        </p:nvSpPr>
        <p:spPr>
          <a:xfrm>
            <a:off x="685800" y="1188720"/>
            <a:ext cx="10820095" cy="365760"/>
          </a:xfrm>
          <a:prstGeom prst="rect">
            <a:avLst/>
          </a:prstGeom>
          <a:noFill/>
        </p:spPr>
        <p:txBody>
          <a:bodyPr wrap="square"/>
          <a:lstStyle/>
          <a:p>
            <a:pPr algn="ctr">
              <a:spcBef>
                <a:spcPts val="0"/>
              </a:spcBef>
              <a:spcAft>
                <a:spcPts val="0"/>
              </a:spcAft>
            </a:pPr>
            <a:r>
              <a:rPr sz="1800" b="0">
                <a:solidFill>
                  <a:srgbClr val="85858A"/>
                </a:solidFill>
                <a:latin typeface="Inter"/>
              </a:rPr>
              <a:t>Reference material for Q&amp;A and follow-up</a:t>
            </a:r>
          </a:p>
        </p:txBody>
      </p:sp>
      <p:sp>
        <p:nvSpPr>
          <p:cNvPr id="4" name="Rectangle 3"/>
          <p:cNvSpPr/>
          <p:nvPr/>
        </p:nvSpPr>
        <p:spPr>
          <a:xfrm>
            <a:off x="1828800" y="2011680"/>
            <a:ext cx="85039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2011680"/>
            <a:ext cx="50800" cy="73152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57400" y="2084832"/>
            <a:ext cx="640080" cy="274320"/>
          </a:xfrm>
          <a:prstGeom prst="rect">
            <a:avLst/>
          </a:prstGeom>
          <a:noFill/>
        </p:spPr>
        <p:txBody>
          <a:bodyPr wrap="square"/>
          <a:lstStyle/>
          <a:p>
            <a:pPr algn="l">
              <a:spcBef>
                <a:spcPts val="0"/>
              </a:spcBef>
              <a:spcAft>
                <a:spcPts val="0"/>
              </a:spcAft>
            </a:pPr>
            <a:r>
              <a:rPr sz="1400" b="1">
                <a:solidFill>
                  <a:srgbClr val="CC5500"/>
                </a:solidFill>
                <a:latin typeface="JetBrains Mono"/>
              </a:rPr>
              <a:t>[ = ]</a:t>
            </a:r>
          </a:p>
        </p:txBody>
      </p:sp>
      <p:sp>
        <p:nvSpPr>
          <p:cNvPr id="7" name="TextBox 6"/>
          <p:cNvSpPr txBox="1"/>
          <p:nvPr/>
        </p:nvSpPr>
        <p:spPr>
          <a:xfrm>
            <a:off x="2651760" y="2057400"/>
            <a:ext cx="6858000" cy="320040"/>
          </a:xfrm>
          <a:prstGeom prst="rect">
            <a:avLst/>
          </a:prstGeom>
          <a:noFill/>
        </p:spPr>
        <p:txBody>
          <a:bodyPr wrap="square"/>
          <a:lstStyle/>
          <a:p>
            <a:pPr algn="l">
              <a:spcBef>
                <a:spcPts val="0"/>
              </a:spcBef>
              <a:spcAft>
                <a:spcPts val="0"/>
              </a:spcAft>
            </a:pPr>
            <a:r>
              <a:rPr sz="1600" b="1">
                <a:solidFill>
                  <a:srgbClr val="EBEBEB"/>
                </a:solidFill>
                <a:latin typeface="JetBrains Mono"/>
              </a:rPr>
              <a:t>Technical Architecture</a:t>
            </a:r>
          </a:p>
        </p:txBody>
      </p:sp>
      <p:sp>
        <p:nvSpPr>
          <p:cNvPr id="8" name="TextBox 7"/>
          <p:cNvSpPr txBox="1"/>
          <p:nvPr/>
        </p:nvSpPr>
        <p:spPr>
          <a:xfrm>
            <a:off x="2651760" y="2377440"/>
            <a:ext cx="6858000" cy="320040"/>
          </a:xfrm>
          <a:prstGeom prst="rect">
            <a:avLst/>
          </a:prstGeom>
          <a:noFill/>
        </p:spPr>
        <p:txBody>
          <a:bodyPr wrap="square"/>
          <a:lstStyle/>
          <a:p>
            <a:pPr algn="l">
              <a:spcBef>
                <a:spcPts val="0"/>
              </a:spcBef>
              <a:spcAft>
                <a:spcPts val="0"/>
              </a:spcAft>
            </a:pPr>
            <a:r>
              <a:rPr sz="1300" b="0">
                <a:solidFill>
                  <a:srgbClr val="85858A"/>
                </a:solidFill>
                <a:latin typeface="Inter"/>
              </a:rPr>
              <a:t>Rust kernel, semantic graph, OPA integration, Ratatui TUI</a:t>
            </a:r>
          </a:p>
        </p:txBody>
      </p:sp>
      <p:sp>
        <p:nvSpPr>
          <p:cNvPr id="9" name="Rectangle 8"/>
          <p:cNvSpPr/>
          <p:nvPr/>
        </p:nvSpPr>
        <p:spPr>
          <a:xfrm>
            <a:off x="1828800" y="2880360"/>
            <a:ext cx="85039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0" y="2880360"/>
            <a:ext cx="50800" cy="73152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2953512"/>
            <a:ext cx="640080" cy="274320"/>
          </a:xfrm>
          <a:prstGeom prst="rect">
            <a:avLst/>
          </a:prstGeom>
          <a:noFill/>
        </p:spPr>
        <p:txBody>
          <a:bodyPr wrap="square"/>
          <a:lstStyle/>
          <a:p>
            <a:pPr algn="l">
              <a:spcBef>
                <a:spcPts val="0"/>
              </a:spcBef>
              <a:spcAft>
                <a:spcPts val="0"/>
              </a:spcAft>
            </a:pPr>
            <a:r>
              <a:rPr sz="1400" b="1">
                <a:solidFill>
                  <a:srgbClr val="CC5500"/>
                </a:solidFill>
                <a:latin typeface="JetBrains Mono"/>
              </a:rPr>
              <a:t>[ ≡ ]</a:t>
            </a:r>
          </a:p>
        </p:txBody>
      </p:sp>
      <p:sp>
        <p:nvSpPr>
          <p:cNvPr id="12" name="TextBox 11"/>
          <p:cNvSpPr txBox="1"/>
          <p:nvPr/>
        </p:nvSpPr>
        <p:spPr>
          <a:xfrm>
            <a:off x="2651760" y="2926080"/>
            <a:ext cx="6858000" cy="320040"/>
          </a:xfrm>
          <a:prstGeom prst="rect">
            <a:avLst/>
          </a:prstGeom>
          <a:noFill/>
        </p:spPr>
        <p:txBody>
          <a:bodyPr wrap="square"/>
          <a:lstStyle/>
          <a:p>
            <a:pPr algn="l">
              <a:spcBef>
                <a:spcPts val="0"/>
              </a:spcBef>
              <a:spcAft>
                <a:spcPts val="0"/>
              </a:spcAft>
            </a:pPr>
            <a:r>
              <a:rPr sz="1600" b="1">
                <a:solidFill>
                  <a:srgbClr val="EBEBEB"/>
                </a:solidFill>
                <a:latin typeface="JetBrains Mono"/>
              </a:rPr>
              <a:t>Detailed Competitive Comparison</a:t>
            </a:r>
          </a:p>
        </p:txBody>
      </p:sp>
      <p:sp>
        <p:nvSpPr>
          <p:cNvPr id="13" name="TextBox 12"/>
          <p:cNvSpPr txBox="1"/>
          <p:nvPr/>
        </p:nvSpPr>
        <p:spPr>
          <a:xfrm>
            <a:off x="2651760" y="3246120"/>
            <a:ext cx="6858000" cy="320040"/>
          </a:xfrm>
          <a:prstGeom prst="rect">
            <a:avLst/>
          </a:prstGeom>
          <a:noFill/>
        </p:spPr>
        <p:txBody>
          <a:bodyPr wrap="square"/>
          <a:lstStyle/>
          <a:p>
            <a:pPr algn="l">
              <a:spcBef>
                <a:spcPts val="0"/>
              </a:spcBef>
              <a:spcAft>
                <a:spcPts val="0"/>
              </a:spcAft>
            </a:pPr>
            <a:r>
              <a:rPr sz="1300" b="0">
                <a:solidFill>
                  <a:srgbClr val="85858A"/>
                </a:solidFill>
                <a:latin typeface="Inter"/>
              </a:rPr>
              <a:t>Feature-by-feature across categories</a:t>
            </a:r>
          </a:p>
        </p:txBody>
      </p:sp>
      <p:sp>
        <p:nvSpPr>
          <p:cNvPr id="14" name="Rectangle 13"/>
          <p:cNvSpPr/>
          <p:nvPr/>
        </p:nvSpPr>
        <p:spPr>
          <a:xfrm>
            <a:off x="1828800" y="3749040"/>
            <a:ext cx="85039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0" y="3749040"/>
            <a:ext cx="50800" cy="73152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57400" y="3822192"/>
            <a:ext cx="640080" cy="274320"/>
          </a:xfrm>
          <a:prstGeom prst="rect">
            <a:avLst/>
          </a:prstGeom>
          <a:noFill/>
        </p:spPr>
        <p:txBody>
          <a:bodyPr wrap="square"/>
          <a:lstStyle/>
          <a:p>
            <a:pPr algn="l">
              <a:spcBef>
                <a:spcPts val="0"/>
              </a:spcBef>
              <a:spcAft>
                <a:spcPts val="0"/>
              </a:spcAft>
            </a:pPr>
            <a:r>
              <a:rPr sz="1400" b="1">
                <a:solidFill>
                  <a:srgbClr val="CC5500"/>
                </a:solidFill>
                <a:latin typeface="JetBrains Mono"/>
              </a:rPr>
              <a:t>[ ■ ]</a:t>
            </a:r>
          </a:p>
        </p:txBody>
      </p:sp>
      <p:sp>
        <p:nvSpPr>
          <p:cNvPr id="17" name="TextBox 16"/>
          <p:cNvSpPr txBox="1"/>
          <p:nvPr/>
        </p:nvSpPr>
        <p:spPr>
          <a:xfrm>
            <a:off x="2651760" y="3794760"/>
            <a:ext cx="6858000" cy="320040"/>
          </a:xfrm>
          <a:prstGeom prst="rect">
            <a:avLst/>
          </a:prstGeom>
          <a:noFill/>
        </p:spPr>
        <p:txBody>
          <a:bodyPr wrap="square"/>
          <a:lstStyle/>
          <a:p>
            <a:pPr algn="l">
              <a:spcBef>
                <a:spcPts val="0"/>
              </a:spcBef>
              <a:spcAft>
                <a:spcPts val="0"/>
              </a:spcAft>
            </a:pPr>
            <a:r>
              <a:rPr sz="1600" b="1">
                <a:solidFill>
                  <a:srgbClr val="EBEBEB"/>
                </a:solidFill>
                <a:latin typeface="JetBrains Mono"/>
              </a:rPr>
              <a:t>Regulatory Timeline</a:t>
            </a:r>
          </a:p>
        </p:txBody>
      </p:sp>
      <p:sp>
        <p:nvSpPr>
          <p:cNvPr id="18" name="TextBox 17"/>
          <p:cNvSpPr txBox="1"/>
          <p:nvPr/>
        </p:nvSpPr>
        <p:spPr>
          <a:xfrm>
            <a:off x="2651760" y="4114800"/>
            <a:ext cx="6858000" cy="320040"/>
          </a:xfrm>
          <a:prstGeom prst="rect">
            <a:avLst/>
          </a:prstGeom>
          <a:noFill/>
        </p:spPr>
        <p:txBody>
          <a:bodyPr wrap="square"/>
          <a:lstStyle/>
          <a:p>
            <a:pPr algn="l">
              <a:spcBef>
                <a:spcPts val="0"/>
              </a:spcBef>
              <a:spcAft>
                <a:spcPts val="0"/>
              </a:spcAft>
            </a:pPr>
            <a:r>
              <a:rPr sz="1300" b="0">
                <a:solidFill>
                  <a:srgbClr val="85858A"/>
                </a:solidFill>
                <a:latin typeface="Inter"/>
              </a:rPr>
              <a:t>EU AI Act, US frameworks, enterprise compliance deadlines</a:t>
            </a:r>
          </a:p>
        </p:txBody>
      </p:sp>
      <p:sp>
        <p:nvSpPr>
          <p:cNvPr id="19" name="Rectangle 18"/>
          <p:cNvSpPr/>
          <p:nvPr/>
        </p:nvSpPr>
        <p:spPr>
          <a:xfrm>
            <a:off x="1828800" y="4617720"/>
            <a:ext cx="85039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4617720"/>
            <a:ext cx="50800" cy="73152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57400" y="4690872"/>
            <a:ext cx="640080" cy="274320"/>
          </a:xfrm>
          <a:prstGeom prst="rect">
            <a:avLst/>
          </a:prstGeom>
          <a:noFill/>
        </p:spPr>
        <p:txBody>
          <a:bodyPr wrap="square"/>
          <a:lstStyle/>
          <a:p>
            <a:pPr algn="l">
              <a:spcBef>
                <a:spcPts val="0"/>
              </a:spcBef>
              <a:spcAft>
                <a:spcPts val="0"/>
              </a:spcAft>
            </a:pPr>
            <a:r>
              <a:rPr sz="1400" b="1">
                <a:solidFill>
                  <a:srgbClr val="CC5500"/>
                </a:solidFill>
                <a:latin typeface="JetBrains Mono"/>
              </a:rPr>
              <a:t>[ = ]</a:t>
            </a:r>
          </a:p>
        </p:txBody>
      </p:sp>
      <p:sp>
        <p:nvSpPr>
          <p:cNvPr id="22" name="TextBox 21"/>
          <p:cNvSpPr txBox="1"/>
          <p:nvPr/>
        </p:nvSpPr>
        <p:spPr>
          <a:xfrm>
            <a:off x="2651760" y="4663440"/>
            <a:ext cx="6858000" cy="320040"/>
          </a:xfrm>
          <a:prstGeom prst="rect">
            <a:avLst/>
          </a:prstGeom>
          <a:noFill/>
        </p:spPr>
        <p:txBody>
          <a:bodyPr wrap="square"/>
          <a:lstStyle/>
          <a:p>
            <a:pPr algn="l">
              <a:spcBef>
                <a:spcPts val="0"/>
              </a:spcBef>
              <a:spcAft>
                <a:spcPts val="0"/>
              </a:spcAft>
            </a:pPr>
            <a:r>
              <a:rPr sz="1600" b="1">
                <a:solidFill>
                  <a:srgbClr val="EBEBEB"/>
                </a:solidFill>
                <a:latin typeface="JetBrains Mono"/>
              </a:rPr>
              <a:t>Financial Model Assumptions</a:t>
            </a:r>
          </a:p>
        </p:txBody>
      </p:sp>
      <p:sp>
        <p:nvSpPr>
          <p:cNvPr id="23" name="TextBox 22"/>
          <p:cNvSpPr txBox="1"/>
          <p:nvPr/>
        </p:nvSpPr>
        <p:spPr>
          <a:xfrm>
            <a:off x="2651760" y="4983480"/>
            <a:ext cx="6858000" cy="320040"/>
          </a:xfrm>
          <a:prstGeom prst="rect">
            <a:avLst/>
          </a:prstGeom>
          <a:noFill/>
        </p:spPr>
        <p:txBody>
          <a:bodyPr wrap="square"/>
          <a:lstStyle/>
          <a:p>
            <a:pPr algn="l">
              <a:spcBef>
                <a:spcPts val="0"/>
              </a:spcBef>
              <a:spcAft>
                <a:spcPts val="0"/>
              </a:spcAft>
            </a:pPr>
            <a:r>
              <a:rPr sz="1300" b="0">
                <a:solidFill>
                  <a:srgbClr val="85858A"/>
                </a:solidFill>
                <a:latin typeface="Inter"/>
              </a:rPr>
              <a:t>Pricing, adoption curve, revenue projections</a:t>
            </a:r>
          </a:p>
        </p:txBody>
      </p:sp>
      <p:sp>
        <p:nvSpPr>
          <p:cNvPr id="24" name="Rectangle 23"/>
          <p:cNvSpPr/>
          <p:nvPr/>
        </p:nvSpPr>
        <p:spPr>
          <a:xfrm>
            <a:off x="1828800" y="5486400"/>
            <a:ext cx="8503920" cy="731520"/>
          </a:xfrm>
          <a:prstGeom prst="rect">
            <a:avLst/>
          </a:prstGeom>
          <a:solidFill>
            <a:srgbClr val="141416"/>
          </a:solidFill>
          <a:ln w="12700">
            <a:solidFill>
              <a:srgbClr val="2A2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0" y="5486400"/>
            <a:ext cx="50800" cy="731520"/>
          </a:xfrm>
          <a:prstGeom prst="rect">
            <a:avLst/>
          </a:prstGeom>
          <a:solidFill>
            <a:srgbClr val="CC5500"/>
          </a:solidFill>
          <a:ln>
            <a:solidFill>
              <a:srgbClr val="CC5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7400" y="5559552"/>
            <a:ext cx="640080" cy="274320"/>
          </a:xfrm>
          <a:prstGeom prst="rect">
            <a:avLst/>
          </a:prstGeom>
          <a:noFill/>
        </p:spPr>
        <p:txBody>
          <a:bodyPr wrap="square"/>
          <a:lstStyle/>
          <a:p>
            <a:pPr algn="l">
              <a:spcBef>
                <a:spcPts val="0"/>
              </a:spcBef>
              <a:spcAft>
                <a:spcPts val="0"/>
              </a:spcAft>
            </a:pPr>
            <a:r>
              <a:rPr sz="1400" b="1">
                <a:solidFill>
                  <a:srgbClr val="CC5500"/>
                </a:solidFill>
                <a:latin typeface="JetBrains Mono"/>
              </a:rPr>
              <a:t>[ ≡ ]</a:t>
            </a:r>
          </a:p>
        </p:txBody>
      </p:sp>
      <p:sp>
        <p:nvSpPr>
          <p:cNvPr id="27" name="TextBox 26"/>
          <p:cNvSpPr txBox="1"/>
          <p:nvPr/>
        </p:nvSpPr>
        <p:spPr>
          <a:xfrm>
            <a:off x="2651760" y="5532120"/>
            <a:ext cx="6858000" cy="320040"/>
          </a:xfrm>
          <a:prstGeom prst="rect">
            <a:avLst/>
          </a:prstGeom>
          <a:noFill/>
        </p:spPr>
        <p:txBody>
          <a:bodyPr wrap="square"/>
          <a:lstStyle/>
          <a:p>
            <a:pPr algn="l">
              <a:spcBef>
                <a:spcPts val="0"/>
              </a:spcBef>
              <a:spcAft>
                <a:spcPts val="0"/>
              </a:spcAft>
            </a:pPr>
            <a:r>
              <a:rPr sz="1600" b="1">
                <a:solidFill>
                  <a:srgbClr val="EBEBEB"/>
                </a:solidFill>
                <a:latin typeface="JetBrains Mono"/>
              </a:rPr>
              <a:t>Product Roadmap</a:t>
            </a:r>
          </a:p>
        </p:txBody>
      </p:sp>
      <p:sp>
        <p:nvSpPr>
          <p:cNvPr id="28" name="TextBox 27"/>
          <p:cNvSpPr txBox="1"/>
          <p:nvPr/>
        </p:nvSpPr>
        <p:spPr>
          <a:xfrm>
            <a:off x="2651760" y="5852160"/>
            <a:ext cx="6858000" cy="320040"/>
          </a:xfrm>
          <a:prstGeom prst="rect">
            <a:avLst/>
          </a:prstGeom>
          <a:noFill/>
        </p:spPr>
        <p:txBody>
          <a:bodyPr wrap="square"/>
          <a:lstStyle/>
          <a:p>
            <a:pPr algn="l">
              <a:spcBef>
                <a:spcPts val="0"/>
              </a:spcBef>
              <a:spcAft>
                <a:spcPts val="0"/>
              </a:spcAft>
            </a:pPr>
            <a:r>
              <a:rPr sz="1300" b="0">
                <a:solidFill>
                  <a:srgbClr val="85858A"/>
                </a:solidFill>
                <a:latin typeface="Inter"/>
              </a:rPr>
              <a:t>Near-term (6 months) and medium-term (18 months)</a:t>
            </a:r>
          </a:p>
        </p:txBody>
      </p:sp>
      <p:sp>
        <p:nvSpPr>
          <p:cNvPr id="29" name="TextBox 28"/>
          <p:cNvSpPr txBox="1"/>
          <p:nvPr/>
        </p:nvSpPr>
        <p:spPr>
          <a:xfrm>
            <a:off x="685800" y="6400800"/>
            <a:ext cx="10820095" cy="365760"/>
          </a:xfrm>
          <a:prstGeom prst="rect">
            <a:avLst/>
          </a:prstGeom>
          <a:noFill/>
        </p:spPr>
        <p:txBody>
          <a:bodyPr wrap="square"/>
          <a:lstStyle/>
          <a:p>
            <a:pPr algn="l">
              <a:spcBef>
                <a:spcPts val="0"/>
              </a:spcBef>
              <a:spcAft>
                <a:spcPts val="0"/>
              </a:spcAft>
            </a:pPr>
            <a:r>
              <a:rPr sz="1000" b="0">
                <a:solidFill>
                  <a:srgbClr val="85858A"/>
                </a:solidFill>
                <a:latin typeface="JetBrains Mono"/>
              </a:rPr>
              <a:t>[ ■ ] e d d a c r a f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